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C"/>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400" b="1" spc="300" kern="0" dirty="0">
                <a:solidFill>
                  <a:srgbClr val="E8672F"/>
                </a:solidFill>
              </a:rPr>
              <a:t>HSRW DATATHON 2026, KLEVE</a:t>
            </a:r>
            <a:endParaRPr lang="en-US" sz="1400" dirty="0"/>
          </a:p>
        </p:txBody>
      </p:sp>
      <p:sp>
        <p:nvSpPr>
          <p:cNvPr id="3" name="Text 1"/>
          <p:cNvSpPr txBox="1"/>
          <p:nvPr/>
        </p:nvSpPr>
        <p:spPr>
          <a:xfrm>
            <a:off x="640080" y="1554480"/>
            <a:ext cx="10515600" cy="2194560"/>
          </a:xfrm>
          <a:prstGeom prst="rect">
            <a:avLst/>
          </a:prstGeom>
          <a:noFill/>
          <a:ln/>
        </p:spPr>
        <p:txBody>
          <a:bodyPr wrap="square" lIns="0" tIns="0" rIns="0" bIns="0" rtlCol="0" anchor="ctr"/>
          <a:lstStyle/>
          <a:p>
            <a:pPr indent="0" marL="0">
              <a:lnSpc>
                <a:spcPct val="105000"/>
              </a:lnSpc>
              <a:buNone/>
            </a:pPr>
            <a:r>
              <a:rPr lang="en-US" sz="5200" b="1" dirty="0">
                <a:solidFill>
                  <a:srgbClr val="EEF0F3"/>
                </a:solidFill>
              </a:rPr>
              <a:t>From messy factory data</a:t>
            </a:r>
            <a:endParaRPr lang="en-US" sz="5200" dirty="0"/>
          </a:p>
          <a:p>
            <a:pPr indent="0" marL="0">
              <a:lnSpc>
                <a:spcPct val="105000"/>
              </a:lnSpc>
              <a:buNone/>
            </a:pPr>
            <a:r>
              <a:rPr lang="en-US" sz="5200" b="1" dirty="0">
                <a:solidFill>
                  <a:srgbClr val="EEF0F3"/>
                </a:solidFill>
              </a:rPr>
              <a:t>to actionable insight</a:t>
            </a:r>
            <a:endParaRPr lang="en-US" sz="5200" dirty="0"/>
          </a:p>
        </p:txBody>
      </p:sp>
      <p:sp>
        <p:nvSpPr>
          <p:cNvPr id="4" name="Text 2"/>
          <p:cNvSpPr txBox="1"/>
          <p:nvPr/>
        </p:nvSpPr>
        <p:spPr>
          <a:xfrm>
            <a:off x="640080" y="3886200"/>
            <a:ext cx="8686800" cy="914400"/>
          </a:xfrm>
          <a:prstGeom prst="rect">
            <a:avLst/>
          </a:prstGeom>
          <a:noFill/>
          <a:ln/>
        </p:spPr>
        <p:txBody>
          <a:bodyPr wrap="square" lIns="0" tIns="0" rIns="0" bIns="0" rtlCol="0" anchor="ctr"/>
          <a:lstStyle/>
          <a:p>
            <a:pPr indent="0" marL="0">
              <a:lnSpc>
                <a:spcPct val="125000"/>
              </a:lnSpc>
              <a:buNone/>
            </a:pPr>
            <a:r>
              <a:rPr lang="en-US" sz="1700" dirty="0">
                <a:solidFill>
                  <a:srgbClr val="A9B0BB"/>
                </a:solidFill>
              </a:rPr>
              <a:t>24 hours, 20 raw files and real production data from BBMED, a cosmetics manufacturer. What we found, and what we would tell the plant.</a:t>
            </a:r>
            <a:endParaRPr lang="en-US" sz="1700" dirty="0"/>
          </a:p>
        </p:txBody>
      </p:sp>
      <p:sp>
        <p:nvSpPr>
          <p:cNvPr id="5" name="Shape 3"/>
          <p:cNvSpPr/>
          <p:nvPr/>
        </p:nvSpPr>
        <p:spPr>
          <a:xfrm>
            <a:off x="640080" y="5989320"/>
            <a:ext cx="411480" cy="41148"/>
          </a:xfrm>
          <a:prstGeom prst="rect">
            <a:avLst/>
          </a:prstGeom>
          <a:solidFill>
            <a:srgbClr val="E8672F"/>
          </a:solidFill>
          <a:ln/>
        </p:spPr>
      </p:sp>
      <p:sp>
        <p:nvSpPr>
          <p:cNvPr id="6" name="Text 4"/>
          <p:cNvSpPr txBox="1"/>
          <p:nvPr/>
        </p:nvSpPr>
        <p:spPr>
          <a:xfrm>
            <a:off x="1188720" y="5806440"/>
            <a:ext cx="6400800" cy="365760"/>
          </a:xfrm>
          <a:prstGeom prst="rect">
            <a:avLst/>
          </a:prstGeom>
          <a:noFill/>
          <a:ln/>
        </p:spPr>
        <p:txBody>
          <a:bodyPr wrap="square" lIns="0" tIns="0" rIns="0" bIns="0" rtlCol="0" anchor="ctr"/>
          <a:lstStyle/>
          <a:p>
            <a:pPr indent="0" marL="0">
              <a:buNone/>
            </a:pPr>
            <a:r>
              <a:rPr lang="en-US" sz="1600" b="1" dirty="0">
                <a:solidFill>
                  <a:srgbClr val="EEF0F3"/>
                </a:solidFill>
              </a:rPr>
              <a:t>Pablo De Villota and Ahmed Azzeh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THE CHALLENGE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One plant, three systems that don't agree</a:t>
            </a:r>
            <a:endParaRPr lang="en-US" sz="3200" dirty="0"/>
          </a:p>
        </p:txBody>
      </p:sp>
      <p:sp>
        <p:nvSpPr>
          <p:cNvPr id="4" name="Shape 2"/>
          <p:cNvSpPr/>
          <p:nvPr/>
        </p:nvSpPr>
        <p:spPr>
          <a:xfrm>
            <a:off x="548640" y="1920240"/>
            <a:ext cx="2606040" cy="1554480"/>
          </a:xfrm>
          <a:prstGeom prst="roundRect">
            <a:avLst>
              <a:gd name="adj" fmla="val 4706"/>
            </a:avLst>
          </a:prstGeom>
          <a:solidFill>
            <a:srgbClr val="FFFFFF"/>
          </a:solidFill>
          <a:ln w="12700">
            <a:solidFill>
              <a:srgbClr val="E2DED5"/>
            </a:solidFill>
            <a:prstDash val="solid"/>
          </a:ln>
        </p:spPr>
      </p:sp>
      <p:sp>
        <p:nvSpPr>
          <p:cNvPr id="5" name="Text 3"/>
          <p:cNvSpPr txBox="1"/>
          <p:nvPr/>
        </p:nvSpPr>
        <p:spPr>
          <a:xfrm>
            <a:off x="713232" y="2084832"/>
            <a:ext cx="2276856" cy="777240"/>
          </a:xfrm>
          <a:prstGeom prst="rect">
            <a:avLst/>
          </a:prstGeom>
          <a:noFill/>
          <a:ln/>
        </p:spPr>
        <p:txBody>
          <a:bodyPr wrap="square" lIns="0" tIns="0" rIns="0" bIns="0" rtlCol="0" anchor="ctr"/>
          <a:lstStyle/>
          <a:p>
            <a:pPr indent="0" marL="0">
              <a:buNone/>
            </a:pPr>
            <a:r>
              <a:rPr lang="en-US" sz="3800" b="1" dirty="0">
                <a:solidFill>
                  <a:srgbClr val="E8672F"/>
                </a:solidFill>
              </a:rPr>
              <a:t>5</a:t>
            </a:r>
            <a:endParaRPr lang="en-US" sz="3800" dirty="0"/>
          </a:p>
        </p:txBody>
      </p:sp>
      <p:sp>
        <p:nvSpPr>
          <p:cNvPr id="6" name="Text 4"/>
          <p:cNvSpPr txBox="1"/>
          <p:nvPr/>
        </p:nvSpPr>
        <p:spPr>
          <a:xfrm>
            <a:off x="713232" y="2834640"/>
            <a:ext cx="2276856" cy="548640"/>
          </a:xfrm>
          <a:prstGeom prst="rect">
            <a:avLst/>
          </a:prstGeom>
          <a:noFill/>
          <a:ln/>
        </p:spPr>
        <p:txBody>
          <a:bodyPr wrap="square" lIns="0" tIns="0" rIns="0" bIns="0" rtlCol="0" anchor="ctr"/>
          <a:lstStyle/>
          <a:p>
            <a:pPr indent="0" marL="0">
              <a:lnSpc>
                <a:spcPct val="120000"/>
              </a:lnSpc>
              <a:buNone/>
            </a:pPr>
            <a:r>
              <a:rPr lang="en-US" sz="1250" dirty="0">
                <a:solidFill>
                  <a:srgbClr val="5D6470"/>
                </a:solidFill>
              </a:rPr>
              <a:t>packaging lines: 2 bottle, 3 tube</a:t>
            </a:r>
            <a:endParaRPr lang="en-US" sz="1250" dirty="0"/>
          </a:p>
        </p:txBody>
      </p:sp>
      <p:sp>
        <p:nvSpPr>
          <p:cNvPr id="7" name="Shape 5"/>
          <p:cNvSpPr/>
          <p:nvPr/>
        </p:nvSpPr>
        <p:spPr>
          <a:xfrm>
            <a:off x="3355848" y="1920240"/>
            <a:ext cx="2606040" cy="1554480"/>
          </a:xfrm>
          <a:prstGeom prst="roundRect">
            <a:avLst>
              <a:gd name="adj" fmla="val 4706"/>
            </a:avLst>
          </a:prstGeom>
          <a:solidFill>
            <a:srgbClr val="FFFFFF"/>
          </a:solidFill>
          <a:ln w="12700">
            <a:solidFill>
              <a:srgbClr val="E2DED5"/>
            </a:solidFill>
            <a:prstDash val="solid"/>
          </a:ln>
        </p:spPr>
      </p:sp>
      <p:sp>
        <p:nvSpPr>
          <p:cNvPr id="8" name="Text 6"/>
          <p:cNvSpPr txBox="1"/>
          <p:nvPr/>
        </p:nvSpPr>
        <p:spPr>
          <a:xfrm>
            <a:off x="3520440" y="2084832"/>
            <a:ext cx="2276856" cy="777240"/>
          </a:xfrm>
          <a:prstGeom prst="rect">
            <a:avLst/>
          </a:prstGeom>
          <a:noFill/>
          <a:ln/>
        </p:spPr>
        <p:txBody>
          <a:bodyPr wrap="square" lIns="0" tIns="0" rIns="0" bIns="0" rtlCol="0" anchor="ctr"/>
          <a:lstStyle/>
          <a:p>
            <a:pPr indent="0" marL="0">
              <a:buNone/>
            </a:pPr>
            <a:r>
              <a:rPr lang="en-US" sz="3800" b="1" dirty="0">
                <a:solidFill>
                  <a:srgbClr val="E8672F"/>
                </a:solidFill>
              </a:rPr>
              <a:t>20</a:t>
            </a:r>
            <a:endParaRPr lang="en-US" sz="3800" dirty="0"/>
          </a:p>
        </p:txBody>
      </p:sp>
      <p:sp>
        <p:nvSpPr>
          <p:cNvPr id="9" name="Text 7"/>
          <p:cNvSpPr txBox="1"/>
          <p:nvPr/>
        </p:nvSpPr>
        <p:spPr>
          <a:xfrm>
            <a:off x="3520440" y="2834640"/>
            <a:ext cx="2276856" cy="548640"/>
          </a:xfrm>
          <a:prstGeom prst="rect">
            <a:avLst/>
          </a:prstGeom>
          <a:noFill/>
          <a:ln/>
        </p:spPr>
        <p:txBody>
          <a:bodyPr wrap="square" lIns="0" tIns="0" rIns="0" bIns="0" rtlCol="0" anchor="ctr"/>
          <a:lstStyle/>
          <a:p>
            <a:pPr indent="0" marL="0">
              <a:lnSpc>
                <a:spcPct val="120000"/>
              </a:lnSpc>
              <a:buNone/>
            </a:pPr>
            <a:r>
              <a:rPr lang="en-US" sz="1250" dirty="0">
                <a:solidFill>
                  <a:srgbClr val="5D6470"/>
                </a:solidFill>
              </a:rPr>
              <a:t>raw files from MES, ERP, Excel and energy meters</a:t>
            </a:r>
            <a:endParaRPr lang="en-US" sz="1250" dirty="0"/>
          </a:p>
        </p:txBody>
      </p:sp>
      <p:sp>
        <p:nvSpPr>
          <p:cNvPr id="10" name="Shape 8"/>
          <p:cNvSpPr/>
          <p:nvPr/>
        </p:nvSpPr>
        <p:spPr>
          <a:xfrm>
            <a:off x="6163056" y="1920240"/>
            <a:ext cx="2606040" cy="1554480"/>
          </a:xfrm>
          <a:prstGeom prst="roundRect">
            <a:avLst>
              <a:gd name="adj" fmla="val 4706"/>
            </a:avLst>
          </a:prstGeom>
          <a:solidFill>
            <a:srgbClr val="FFFFFF"/>
          </a:solidFill>
          <a:ln w="12700">
            <a:solidFill>
              <a:srgbClr val="E2DED5"/>
            </a:solidFill>
            <a:prstDash val="solid"/>
          </a:ln>
        </p:spPr>
      </p:sp>
      <p:sp>
        <p:nvSpPr>
          <p:cNvPr id="11" name="Text 9"/>
          <p:cNvSpPr txBox="1"/>
          <p:nvPr/>
        </p:nvSpPr>
        <p:spPr>
          <a:xfrm>
            <a:off x="6327648" y="2084832"/>
            <a:ext cx="2276856" cy="777240"/>
          </a:xfrm>
          <a:prstGeom prst="rect">
            <a:avLst/>
          </a:prstGeom>
          <a:noFill/>
          <a:ln/>
        </p:spPr>
        <p:txBody>
          <a:bodyPr wrap="square" lIns="0" tIns="0" rIns="0" bIns="0" rtlCol="0" anchor="ctr"/>
          <a:lstStyle/>
          <a:p>
            <a:pPr indent="0" marL="0">
              <a:buNone/>
            </a:pPr>
            <a:r>
              <a:rPr lang="en-US" sz="3800" b="1" dirty="0">
                <a:solidFill>
                  <a:srgbClr val="E8672F"/>
                </a:solidFill>
              </a:rPr>
              <a:t>43,848</a:t>
            </a:r>
            <a:endParaRPr lang="en-US" sz="3800" dirty="0"/>
          </a:p>
        </p:txBody>
      </p:sp>
      <p:sp>
        <p:nvSpPr>
          <p:cNvPr id="12" name="Text 10"/>
          <p:cNvSpPr txBox="1"/>
          <p:nvPr/>
        </p:nvSpPr>
        <p:spPr>
          <a:xfrm>
            <a:off x="6327648" y="2834640"/>
            <a:ext cx="2276856" cy="548640"/>
          </a:xfrm>
          <a:prstGeom prst="rect">
            <a:avLst/>
          </a:prstGeom>
          <a:noFill/>
          <a:ln/>
        </p:spPr>
        <p:txBody>
          <a:bodyPr wrap="square" lIns="0" tIns="0" rIns="0" bIns="0" rtlCol="0" anchor="ctr"/>
          <a:lstStyle/>
          <a:p>
            <a:pPr indent="0" marL="0">
              <a:lnSpc>
                <a:spcPct val="120000"/>
              </a:lnSpc>
              <a:buNone/>
            </a:pPr>
            <a:r>
              <a:rPr lang="en-US" sz="1250" dirty="0">
                <a:solidFill>
                  <a:srgbClr val="5D6470"/>
                </a:solidFill>
              </a:rPr>
              <a:t>stoppage records, codes half-documented</a:t>
            </a:r>
            <a:endParaRPr lang="en-US" sz="1250" dirty="0"/>
          </a:p>
        </p:txBody>
      </p:sp>
      <p:sp>
        <p:nvSpPr>
          <p:cNvPr id="13" name="Shape 11"/>
          <p:cNvSpPr/>
          <p:nvPr/>
        </p:nvSpPr>
        <p:spPr>
          <a:xfrm>
            <a:off x="8970264" y="1920240"/>
            <a:ext cx="2606040" cy="1554480"/>
          </a:xfrm>
          <a:prstGeom prst="roundRect">
            <a:avLst>
              <a:gd name="adj" fmla="val 4706"/>
            </a:avLst>
          </a:prstGeom>
          <a:solidFill>
            <a:srgbClr val="FFFFFF"/>
          </a:solidFill>
          <a:ln w="12700">
            <a:solidFill>
              <a:srgbClr val="E2DED5"/>
            </a:solidFill>
            <a:prstDash val="solid"/>
          </a:ln>
        </p:spPr>
      </p:sp>
      <p:sp>
        <p:nvSpPr>
          <p:cNvPr id="14" name="Text 12"/>
          <p:cNvSpPr txBox="1"/>
          <p:nvPr/>
        </p:nvSpPr>
        <p:spPr>
          <a:xfrm>
            <a:off x="9134856" y="2084832"/>
            <a:ext cx="2276856" cy="777240"/>
          </a:xfrm>
          <a:prstGeom prst="rect">
            <a:avLst/>
          </a:prstGeom>
          <a:noFill/>
          <a:ln/>
        </p:spPr>
        <p:txBody>
          <a:bodyPr wrap="square" lIns="0" tIns="0" rIns="0" bIns="0" rtlCol="0" anchor="ctr"/>
          <a:lstStyle/>
          <a:p>
            <a:pPr indent="0" marL="0">
              <a:buNone/>
            </a:pPr>
            <a:r>
              <a:rPr lang="en-US" sz="3800" b="1" dirty="0">
                <a:solidFill>
                  <a:srgbClr val="E8672F"/>
                </a:solidFill>
              </a:rPr>
              <a:t>24 h</a:t>
            </a:r>
            <a:endParaRPr lang="en-US" sz="3800" dirty="0"/>
          </a:p>
        </p:txBody>
      </p:sp>
      <p:sp>
        <p:nvSpPr>
          <p:cNvPr id="15" name="Text 13"/>
          <p:cNvSpPr txBox="1"/>
          <p:nvPr/>
        </p:nvSpPr>
        <p:spPr>
          <a:xfrm>
            <a:off x="9134856" y="2834640"/>
            <a:ext cx="2276856" cy="548640"/>
          </a:xfrm>
          <a:prstGeom prst="rect">
            <a:avLst/>
          </a:prstGeom>
          <a:noFill/>
          <a:ln/>
        </p:spPr>
        <p:txBody>
          <a:bodyPr wrap="square" lIns="0" tIns="0" rIns="0" bIns="0" rtlCol="0" anchor="ctr"/>
          <a:lstStyle/>
          <a:p>
            <a:pPr indent="0" marL="0">
              <a:lnSpc>
                <a:spcPct val="120000"/>
              </a:lnSpc>
              <a:buNone/>
            </a:pPr>
            <a:r>
              <a:rPr lang="en-US" sz="1250" dirty="0">
                <a:solidFill>
                  <a:srgbClr val="5D6470"/>
                </a:solidFill>
              </a:rPr>
              <a:t>from data release to jury presentation</a:t>
            </a:r>
            <a:endParaRPr lang="en-US" sz="1250" dirty="0"/>
          </a:p>
        </p:txBody>
      </p:sp>
      <p:sp>
        <p:nvSpPr>
          <p:cNvPr id="16" name="Text 14"/>
          <p:cNvSpPr txBox="1"/>
          <p:nvPr/>
        </p:nvSpPr>
        <p:spPr>
          <a:xfrm>
            <a:off x="548640" y="3840480"/>
            <a:ext cx="10515600" cy="914400"/>
          </a:xfrm>
          <a:prstGeom prst="rect">
            <a:avLst/>
          </a:prstGeom>
          <a:noFill/>
          <a:ln/>
        </p:spPr>
        <p:txBody>
          <a:bodyPr wrap="square" lIns="0" tIns="0" rIns="0" bIns="0" rtlCol="0" anchor="ctr"/>
          <a:lstStyle/>
          <a:p>
            <a:pPr indent="0" marL="0">
              <a:lnSpc>
                <a:spcPct val="130000"/>
              </a:lnSpc>
              <a:buNone/>
            </a:pPr>
            <a:r>
              <a:rPr lang="en-US" sz="1500" dirty="0">
                <a:solidFill>
                  <a:srgbClr val="1C2028"/>
                </a:solidFill>
              </a:rPr>
              <a:t>The brief: understand performance, stoppages, staffing and energy on the lines, and fix how the data is collected. Every team got the same data. Saying this can't be answered yet was allowed, if we explained why.</a:t>
            </a:r>
            <a:endParaRPr lang="en-US" sz="1500" dirty="0"/>
          </a:p>
        </p:txBody>
      </p:sp>
      <p:sp>
        <p:nvSpPr>
          <p:cNvPr id="17" name="Text 15"/>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18" name="Text 16"/>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THE DATA MODEL</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How 20 raw files actually connect</a:t>
            </a:r>
            <a:endParaRPr lang="en-US" sz="3200" dirty="0"/>
          </a:p>
        </p:txBody>
      </p:sp>
      <p:pic>
        <p:nvPicPr>
          <p:cNvPr id="4" name="Image 0" descr="data_model.png">    </p:cNvPr>
          <p:cNvPicPr>
            <a:picLocks noChangeAspect="1"/>
          </p:cNvPicPr>
          <p:nvPr/>
        </p:nvPicPr>
        <p:blipFill>
          <a:blip r:embed="rId1"/>
          <a:stretch>
            <a:fillRect/>
          </a:stretch>
        </p:blipFill>
        <p:spPr>
          <a:xfrm>
            <a:off x="3129426" y="1783080"/>
            <a:ext cx="5930100" cy="4434840"/>
          </a:xfrm>
          <a:prstGeom prst="rect">
            <a:avLst/>
          </a:prstGeom>
        </p:spPr>
      </p:pic>
      <p:sp>
        <p:nvSpPr>
          <p:cNvPr id="5" name="Text 2"/>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6" name="Text 3"/>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STEP ONE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Before any chart: map how the tables connect</a:t>
            </a:r>
            <a:endParaRPr lang="en-US" sz="3200" dirty="0"/>
          </a:p>
        </p:txBody>
      </p:sp>
      <p:sp>
        <p:nvSpPr>
          <p:cNvPr id="4" name="Shape 2"/>
          <p:cNvSpPr/>
          <p:nvPr/>
        </p:nvSpPr>
        <p:spPr>
          <a:xfrm>
            <a:off x="548640" y="1920240"/>
            <a:ext cx="3520440" cy="3566160"/>
          </a:xfrm>
          <a:prstGeom prst="roundRect">
            <a:avLst>
              <a:gd name="adj" fmla="val 2078"/>
            </a:avLst>
          </a:prstGeom>
          <a:solidFill>
            <a:srgbClr val="FFFFFF"/>
          </a:solidFill>
          <a:ln w="12700">
            <a:solidFill>
              <a:srgbClr val="E2DED5"/>
            </a:solidFill>
            <a:prstDash val="solid"/>
          </a:ln>
        </p:spPr>
      </p:sp>
      <p:sp>
        <p:nvSpPr>
          <p:cNvPr id="5" name="Shape 3"/>
          <p:cNvSpPr/>
          <p:nvPr/>
        </p:nvSpPr>
        <p:spPr>
          <a:xfrm>
            <a:off x="768096" y="2194560"/>
            <a:ext cx="146304" cy="146304"/>
          </a:xfrm>
          <a:prstGeom prst="ellipse">
            <a:avLst/>
          </a:prstGeom>
          <a:solidFill>
            <a:srgbClr val="3B7DD8"/>
          </a:solidFill>
          <a:ln/>
        </p:spPr>
      </p:sp>
      <p:sp>
        <p:nvSpPr>
          <p:cNvPr id="6" name="Text 4"/>
          <p:cNvSpPr txBox="1"/>
          <p:nvPr/>
        </p:nvSpPr>
        <p:spPr>
          <a:xfrm>
            <a:off x="1024128" y="2139696"/>
            <a:ext cx="2825496" cy="548640"/>
          </a:xfrm>
          <a:prstGeom prst="rect">
            <a:avLst/>
          </a:prstGeom>
          <a:noFill/>
          <a:ln/>
        </p:spPr>
        <p:txBody>
          <a:bodyPr wrap="square" lIns="0" tIns="0" rIns="0" bIns="0" rtlCol="0" anchor="ctr"/>
          <a:lstStyle/>
          <a:p>
            <a:pPr indent="0" marL="0">
              <a:buNone/>
            </a:pPr>
            <a:r>
              <a:rPr lang="en-US" sz="1700" b="1" dirty="0">
                <a:solidFill>
                  <a:srgbClr val="1C2028"/>
                </a:solidFill>
              </a:rPr>
              <a:t>Joined by shared IDs</a:t>
            </a:r>
            <a:endParaRPr lang="en-US" sz="1700" dirty="0"/>
          </a:p>
        </p:txBody>
      </p:sp>
      <p:sp>
        <p:nvSpPr>
          <p:cNvPr id="7" name="Text 5"/>
          <p:cNvSpPr txBox="1"/>
          <p:nvPr/>
        </p:nvSpPr>
        <p:spPr>
          <a:xfrm>
            <a:off x="768096" y="2788920"/>
            <a:ext cx="3081528" cy="24688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5D6470"/>
                </a:solidFill>
              </a:rPr>
              <a:t>Production order to work records (one per continuous run)</a:t>
            </a:r>
            <a:endParaRPr lang="en-US" sz="1300" dirty="0"/>
          </a:p>
          <a:p>
            <a:pPr marL="342900" indent="-342900">
              <a:spcAft>
                <a:spcPts val="1000"/>
              </a:spcAft>
              <a:buSzPct val="100000"/>
              <a:buChar char="•"/>
            </a:pPr>
            <a:r>
              <a:rPr lang="en-US" sz="1300" dirty="0">
                <a:solidFill>
                  <a:srgbClr val="5D6470"/>
                </a:solidFill>
              </a:rPr>
              <a:t>Work records to stoppages, staff, rejects</a:t>
            </a:r>
            <a:endParaRPr lang="en-US" sz="1300" dirty="0"/>
          </a:p>
          <a:p>
            <a:pPr marL="342900" indent="-342900">
              <a:spcAft>
                <a:spcPts val="1000"/>
              </a:spcAft>
              <a:buSzPct val="100000"/>
              <a:buChar char="•"/>
            </a:pPr>
            <a:r>
              <a:rPr lang="en-US" sz="1300" dirty="0">
                <a:solidFill>
                  <a:srgbClr val="5D6470"/>
                </a:solidFill>
              </a:rPr>
              <a:t>Article no. to ERP product master (density, volume)</a:t>
            </a:r>
            <a:endParaRPr lang="en-US" sz="1300" dirty="0"/>
          </a:p>
        </p:txBody>
      </p:sp>
      <p:sp>
        <p:nvSpPr>
          <p:cNvPr id="8" name="Shape 6"/>
          <p:cNvSpPr/>
          <p:nvPr/>
        </p:nvSpPr>
        <p:spPr>
          <a:xfrm>
            <a:off x="4251960" y="1920240"/>
            <a:ext cx="3520440" cy="3566160"/>
          </a:xfrm>
          <a:prstGeom prst="roundRect">
            <a:avLst>
              <a:gd name="adj" fmla="val 2078"/>
            </a:avLst>
          </a:prstGeom>
          <a:solidFill>
            <a:srgbClr val="FFFFFF"/>
          </a:solidFill>
          <a:ln w="12700">
            <a:solidFill>
              <a:srgbClr val="E2DED5"/>
            </a:solidFill>
            <a:prstDash val="solid"/>
          </a:ln>
        </p:spPr>
      </p:sp>
      <p:sp>
        <p:nvSpPr>
          <p:cNvPr id="9" name="Shape 7"/>
          <p:cNvSpPr/>
          <p:nvPr/>
        </p:nvSpPr>
        <p:spPr>
          <a:xfrm>
            <a:off x="4471416" y="2194560"/>
            <a:ext cx="146304" cy="146304"/>
          </a:xfrm>
          <a:prstGeom prst="ellipse">
            <a:avLst/>
          </a:prstGeom>
          <a:solidFill>
            <a:srgbClr val="E8672F"/>
          </a:solidFill>
          <a:ln/>
        </p:spPr>
      </p:sp>
      <p:sp>
        <p:nvSpPr>
          <p:cNvPr id="10" name="Text 8"/>
          <p:cNvSpPr txBox="1"/>
          <p:nvPr/>
        </p:nvSpPr>
        <p:spPr>
          <a:xfrm>
            <a:off x="4727448" y="2139696"/>
            <a:ext cx="2825496" cy="548640"/>
          </a:xfrm>
          <a:prstGeom prst="rect">
            <a:avLst/>
          </a:prstGeom>
          <a:noFill/>
          <a:ln/>
        </p:spPr>
        <p:txBody>
          <a:bodyPr wrap="square" lIns="0" tIns="0" rIns="0" bIns="0" rtlCol="0" anchor="ctr"/>
          <a:lstStyle/>
          <a:p>
            <a:pPr indent="0" marL="0">
              <a:buNone/>
            </a:pPr>
            <a:r>
              <a:rPr lang="en-US" sz="1700" b="1" dirty="0">
                <a:solidFill>
                  <a:srgbClr val="1C2028"/>
                </a:solidFill>
              </a:rPr>
              <a:t>Joined by time or date only</a:t>
            </a:r>
            <a:endParaRPr lang="en-US" sz="1700" dirty="0"/>
          </a:p>
        </p:txBody>
      </p:sp>
      <p:sp>
        <p:nvSpPr>
          <p:cNvPr id="11" name="Text 9"/>
          <p:cNvSpPr txBox="1"/>
          <p:nvPr/>
        </p:nvSpPr>
        <p:spPr>
          <a:xfrm>
            <a:off x="4471416" y="2788920"/>
            <a:ext cx="3081528" cy="24688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5D6470"/>
                </a:solidFill>
              </a:rPr>
              <a:t>Excel operator log: order no. plus calendar day</a:t>
            </a:r>
            <a:endParaRPr lang="en-US" sz="1300" dirty="0"/>
          </a:p>
          <a:p>
            <a:pPr marL="342900" indent="-342900">
              <a:spcAft>
                <a:spcPts val="1000"/>
              </a:spcAft>
              <a:buSzPct val="100000"/>
              <a:buChar char="•"/>
            </a:pPr>
            <a:r>
              <a:rPr lang="en-US" sz="1300" dirty="0">
                <a:solidFill>
                  <a:srgbClr val="5D6470"/>
                </a:solidFill>
              </a:rPr>
              <a:t>KM1 energy meters: line plus timestamp</a:t>
            </a:r>
            <a:endParaRPr lang="en-US" sz="1300" dirty="0"/>
          </a:p>
          <a:p>
            <a:pPr marL="342900" indent="-342900">
              <a:spcAft>
                <a:spcPts val="1000"/>
              </a:spcAft>
              <a:buSzPct val="100000"/>
              <a:buChar char="•"/>
            </a:pPr>
            <a:r>
              <a:rPr lang="en-US" sz="1300" dirty="0">
                <a:solidFill>
                  <a:srgbClr val="5D6470"/>
                </a:solidFill>
              </a:rPr>
              <a:t>No shared ID, so every match is a deliberate rule</a:t>
            </a:r>
            <a:endParaRPr lang="en-US" sz="1300" dirty="0"/>
          </a:p>
        </p:txBody>
      </p:sp>
      <p:sp>
        <p:nvSpPr>
          <p:cNvPr id="12" name="Shape 10"/>
          <p:cNvSpPr/>
          <p:nvPr/>
        </p:nvSpPr>
        <p:spPr>
          <a:xfrm>
            <a:off x="7955280" y="1920240"/>
            <a:ext cx="3520440" cy="3566160"/>
          </a:xfrm>
          <a:prstGeom prst="roundRect">
            <a:avLst>
              <a:gd name="adj" fmla="val 2078"/>
            </a:avLst>
          </a:prstGeom>
          <a:solidFill>
            <a:srgbClr val="FFFFFF"/>
          </a:solidFill>
          <a:ln w="12700">
            <a:solidFill>
              <a:srgbClr val="E2DED5"/>
            </a:solidFill>
            <a:prstDash val="solid"/>
          </a:ln>
        </p:spPr>
      </p:sp>
      <p:sp>
        <p:nvSpPr>
          <p:cNvPr id="13" name="Shape 11"/>
          <p:cNvSpPr/>
          <p:nvPr/>
        </p:nvSpPr>
        <p:spPr>
          <a:xfrm>
            <a:off x="8174736" y="2194560"/>
            <a:ext cx="146304" cy="146304"/>
          </a:xfrm>
          <a:prstGeom prst="ellipse">
            <a:avLst/>
          </a:prstGeom>
          <a:solidFill>
            <a:srgbClr val="8A8F98"/>
          </a:solidFill>
          <a:ln/>
        </p:spPr>
      </p:sp>
      <p:sp>
        <p:nvSpPr>
          <p:cNvPr id="14" name="Text 12"/>
          <p:cNvSpPr txBox="1"/>
          <p:nvPr/>
        </p:nvSpPr>
        <p:spPr>
          <a:xfrm>
            <a:off x="8430768" y="2139696"/>
            <a:ext cx="2825496" cy="548640"/>
          </a:xfrm>
          <a:prstGeom prst="rect">
            <a:avLst/>
          </a:prstGeom>
          <a:noFill/>
          <a:ln/>
        </p:spPr>
        <p:txBody>
          <a:bodyPr wrap="square" lIns="0" tIns="0" rIns="0" bIns="0" rtlCol="0" anchor="ctr"/>
          <a:lstStyle/>
          <a:p>
            <a:pPr indent="0" marL="0">
              <a:buNone/>
            </a:pPr>
            <a:r>
              <a:rPr lang="en-US" sz="1700" b="1" dirty="0">
                <a:solidFill>
                  <a:srgbClr val="1C2028"/>
                </a:solidFill>
              </a:rPr>
              <a:t>Gaps we documented</a:t>
            </a:r>
            <a:endParaRPr lang="en-US" sz="1700" dirty="0"/>
          </a:p>
        </p:txBody>
      </p:sp>
      <p:sp>
        <p:nvSpPr>
          <p:cNvPr id="15" name="Text 13"/>
          <p:cNvSpPr txBox="1"/>
          <p:nvPr/>
        </p:nvSpPr>
        <p:spPr>
          <a:xfrm>
            <a:off x="8174736" y="2788920"/>
            <a:ext cx="3081528" cy="24688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5D6470"/>
                </a:solidFill>
              </a:rPr>
              <a:t>32% of stoppage rows have no parent record</a:t>
            </a:r>
            <a:endParaRPr lang="en-US" sz="1300" dirty="0"/>
          </a:p>
          <a:p>
            <a:pPr marL="342900" indent="-342900">
              <a:spcAft>
                <a:spcPts val="1000"/>
              </a:spcAft>
              <a:buSzPct val="100000"/>
              <a:buChar char="•"/>
            </a:pPr>
            <a:r>
              <a:rPr lang="en-US" sz="1300" dirty="0">
                <a:solidFill>
                  <a:srgbClr val="5D6470"/>
                </a:solidFill>
              </a:rPr>
              <a:t>Scrap data on under 3% of work records</a:t>
            </a:r>
            <a:endParaRPr lang="en-US" sz="1300" dirty="0"/>
          </a:p>
          <a:p>
            <a:pPr marL="342900" indent="-342900">
              <a:spcAft>
                <a:spcPts val="1000"/>
              </a:spcAft>
              <a:buSzPct val="100000"/>
              <a:buChar char="•"/>
            </a:pPr>
            <a:r>
              <a:rPr lang="en-US" sz="1300" dirty="0">
                <a:solidFill>
                  <a:srgbClr val="5D6470"/>
                </a:solidFill>
              </a:rPr>
              <a:t>20 orders with stale target rates</a:t>
            </a:r>
            <a:endParaRPr lang="en-US" sz="1300" dirty="0"/>
          </a:p>
        </p:txBody>
      </p:sp>
      <p:sp>
        <p:nvSpPr>
          <p:cNvPr id="16" name="Text 14"/>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17" name="Text 15"/>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71C"/>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1, OEE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EEF0F3"/>
                </a:solidFill>
                <a:latin typeface="Arial" pitchFamily="34" charset="0"/>
                <a:ea typeface="Arial" pitchFamily="34" charset="-122"/>
                <a:cs typeface="Arial" pitchFamily="34" charset="-120"/>
              </a:rPr>
              <a:t>The machines are fast. They just don't run enough.</a:t>
            </a:r>
            <a:endParaRPr lang="en-US" sz="3200" dirty="0"/>
          </a:p>
        </p:txBody>
      </p:sp>
      <p:sp>
        <p:nvSpPr>
          <p:cNvPr id="4" name="Text 2"/>
          <p:cNvSpPr txBox="1"/>
          <p:nvPr/>
        </p:nvSpPr>
        <p:spPr>
          <a:xfrm>
            <a:off x="548640" y="1920240"/>
            <a:ext cx="4937760" cy="1737360"/>
          </a:xfrm>
          <a:prstGeom prst="rect">
            <a:avLst/>
          </a:prstGeom>
          <a:noFill/>
          <a:ln/>
        </p:spPr>
        <p:txBody>
          <a:bodyPr wrap="square" lIns="0" tIns="0" rIns="0" bIns="0" rtlCol="0" anchor="ctr"/>
          <a:lstStyle/>
          <a:p>
            <a:pPr indent="0" marL="0">
              <a:buNone/>
            </a:pPr>
            <a:r>
              <a:rPr lang="en-US" sz="9200" b="1" dirty="0">
                <a:solidFill>
                  <a:srgbClr val="E8672F"/>
                </a:solidFill>
              </a:rPr>
              <a:t>43.5%</a:t>
            </a:r>
            <a:endParaRPr lang="en-US" sz="9200" dirty="0"/>
          </a:p>
        </p:txBody>
      </p:sp>
      <p:sp>
        <p:nvSpPr>
          <p:cNvPr id="5" name="Text 3"/>
          <p:cNvSpPr txBox="1"/>
          <p:nvPr/>
        </p:nvSpPr>
        <p:spPr>
          <a:xfrm>
            <a:off x="548640" y="3611880"/>
            <a:ext cx="4480560" cy="914400"/>
          </a:xfrm>
          <a:prstGeom prst="rect">
            <a:avLst/>
          </a:prstGeom>
          <a:noFill/>
          <a:ln/>
        </p:spPr>
        <p:txBody>
          <a:bodyPr wrap="square" lIns="0" tIns="0" rIns="0" bIns="0" rtlCol="0" anchor="ctr"/>
          <a:lstStyle/>
          <a:p>
            <a:pPr indent="0" marL="0">
              <a:lnSpc>
                <a:spcPct val="130000"/>
              </a:lnSpc>
              <a:buNone/>
            </a:pPr>
            <a:r>
              <a:rPr lang="en-US" sz="1500" dirty="0">
                <a:solidFill>
                  <a:srgbClr val="A9B0BB"/>
                </a:solidFill>
              </a:rPr>
              <a:t>fleet OEE (availability times performance) across 889 clean orders</a:t>
            </a:r>
            <a:endParaRPr lang="en-US" sz="1500" dirty="0"/>
          </a:p>
        </p:txBody>
      </p:sp>
      <p:sp>
        <p:nvSpPr>
          <p:cNvPr id="6" name="Text 4"/>
          <p:cNvSpPr txBox="1"/>
          <p:nvPr/>
        </p:nvSpPr>
        <p:spPr>
          <a:xfrm>
            <a:off x="5760720" y="2103120"/>
            <a:ext cx="5029200" cy="320040"/>
          </a:xfrm>
          <a:prstGeom prst="rect">
            <a:avLst/>
          </a:prstGeom>
          <a:noFill/>
          <a:ln/>
        </p:spPr>
        <p:txBody>
          <a:bodyPr wrap="square" lIns="0" tIns="0" rIns="0" bIns="0" rtlCol="0" anchor="ctr"/>
          <a:lstStyle/>
          <a:p>
            <a:pPr indent="0" marL="0">
              <a:buNone/>
            </a:pPr>
            <a:r>
              <a:rPr lang="en-US" sz="1500" b="1" dirty="0">
                <a:solidFill>
                  <a:srgbClr val="EEF0F3"/>
                </a:solidFill>
              </a:rPr>
              <a:t>Performance, speed while running</a:t>
            </a:r>
            <a:endParaRPr lang="en-US" sz="1500" dirty="0"/>
          </a:p>
        </p:txBody>
      </p:sp>
      <p:sp>
        <p:nvSpPr>
          <p:cNvPr id="7" name="Text 5"/>
          <p:cNvSpPr txBox="1"/>
          <p:nvPr/>
        </p:nvSpPr>
        <p:spPr>
          <a:xfrm>
            <a:off x="10332720" y="2103120"/>
            <a:ext cx="1097280" cy="320040"/>
          </a:xfrm>
          <a:prstGeom prst="rect">
            <a:avLst/>
          </a:prstGeom>
          <a:noFill/>
          <a:ln/>
        </p:spPr>
        <p:txBody>
          <a:bodyPr wrap="square" lIns="0" tIns="0" rIns="0" bIns="0" rtlCol="0" anchor="ctr"/>
          <a:lstStyle/>
          <a:p>
            <a:pPr algn="r" indent="0" marL="0">
              <a:buNone/>
            </a:pPr>
            <a:r>
              <a:rPr lang="en-US" sz="1500" b="1" dirty="0">
                <a:solidFill>
                  <a:srgbClr val="3B7DD8"/>
                </a:solidFill>
              </a:rPr>
              <a:t>95%</a:t>
            </a:r>
            <a:endParaRPr lang="en-US" sz="1500" dirty="0"/>
          </a:p>
        </p:txBody>
      </p:sp>
      <p:sp>
        <p:nvSpPr>
          <p:cNvPr id="8" name="Shape 6"/>
          <p:cNvSpPr/>
          <p:nvPr/>
        </p:nvSpPr>
        <p:spPr>
          <a:xfrm>
            <a:off x="5760720" y="2487168"/>
            <a:ext cx="5669280" cy="320040"/>
          </a:xfrm>
          <a:prstGeom prst="roundRect">
            <a:avLst>
              <a:gd name="adj" fmla="val 14286"/>
            </a:avLst>
          </a:prstGeom>
          <a:solidFill>
            <a:srgbClr val="2A2F38"/>
          </a:solidFill>
          <a:ln/>
        </p:spPr>
      </p:sp>
      <p:sp>
        <p:nvSpPr>
          <p:cNvPr id="9" name="Shape 7"/>
          <p:cNvSpPr/>
          <p:nvPr/>
        </p:nvSpPr>
        <p:spPr>
          <a:xfrm>
            <a:off x="5760720" y="2487168"/>
            <a:ext cx="5385816" cy="320040"/>
          </a:xfrm>
          <a:prstGeom prst="roundRect">
            <a:avLst>
              <a:gd name="adj" fmla="val 14286"/>
            </a:avLst>
          </a:prstGeom>
          <a:solidFill>
            <a:srgbClr val="3B7DD8"/>
          </a:solidFill>
          <a:ln/>
        </p:spPr>
      </p:sp>
      <p:sp>
        <p:nvSpPr>
          <p:cNvPr id="10" name="Text 8"/>
          <p:cNvSpPr txBox="1"/>
          <p:nvPr/>
        </p:nvSpPr>
        <p:spPr>
          <a:xfrm>
            <a:off x="5760720" y="3063240"/>
            <a:ext cx="5029200" cy="320040"/>
          </a:xfrm>
          <a:prstGeom prst="rect">
            <a:avLst/>
          </a:prstGeom>
          <a:noFill/>
          <a:ln/>
        </p:spPr>
        <p:txBody>
          <a:bodyPr wrap="square" lIns="0" tIns="0" rIns="0" bIns="0" rtlCol="0" anchor="ctr"/>
          <a:lstStyle/>
          <a:p>
            <a:pPr indent="0" marL="0">
              <a:buNone/>
            </a:pPr>
            <a:r>
              <a:rPr lang="en-US" sz="1500" b="1" dirty="0">
                <a:solidFill>
                  <a:srgbClr val="EEF0F3"/>
                </a:solidFill>
              </a:rPr>
              <a:t>Availability, share of time running</a:t>
            </a:r>
            <a:endParaRPr lang="en-US" sz="1500" dirty="0"/>
          </a:p>
        </p:txBody>
      </p:sp>
      <p:sp>
        <p:nvSpPr>
          <p:cNvPr id="11" name="Text 9"/>
          <p:cNvSpPr txBox="1"/>
          <p:nvPr/>
        </p:nvSpPr>
        <p:spPr>
          <a:xfrm>
            <a:off x="10332720" y="3063240"/>
            <a:ext cx="1097280" cy="320040"/>
          </a:xfrm>
          <a:prstGeom prst="rect">
            <a:avLst/>
          </a:prstGeom>
          <a:noFill/>
          <a:ln/>
        </p:spPr>
        <p:txBody>
          <a:bodyPr wrap="square" lIns="0" tIns="0" rIns="0" bIns="0" rtlCol="0" anchor="ctr"/>
          <a:lstStyle/>
          <a:p>
            <a:pPr algn="r" indent="0" marL="0">
              <a:buNone/>
            </a:pPr>
            <a:r>
              <a:rPr lang="en-US" sz="1500" b="1" dirty="0">
                <a:solidFill>
                  <a:srgbClr val="E8672F"/>
                </a:solidFill>
              </a:rPr>
              <a:t>46%</a:t>
            </a:r>
            <a:endParaRPr lang="en-US" sz="1500" dirty="0"/>
          </a:p>
        </p:txBody>
      </p:sp>
      <p:sp>
        <p:nvSpPr>
          <p:cNvPr id="12" name="Shape 10"/>
          <p:cNvSpPr/>
          <p:nvPr/>
        </p:nvSpPr>
        <p:spPr>
          <a:xfrm>
            <a:off x="5760720" y="3447288"/>
            <a:ext cx="5669280" cy="320040"/>
          </a:xfrm>
          <a:prstGeom prst="roundRect">
            <a:avLst>
              <a:gd name="adj" fmla="val 14286"/>
            </a:avLst>
          </a:prstGeom>
          <a:solidFill>
            <a:srgbClr val="2A2F38"/>
          </a:solidFill>
          <a:ln/>
        </p:spPr>
      </p:sp>
      <p:sp>
        <p:nvSpPr>
          <p:cNvPr id="13" name="Shape 11"/>
          <p:cNvSpPr/>
          <p:nvPr/>
        </p:nvSpPr>
        <p:spPr>
          <a:xfrm>
            <a:off x="5760720" y="3447288"/>
            <a:ext cx="2607869" cy="320040"/>
          </a:xfrm>
          <a:prstGeom prst="roundRect">
            <a:avLst>
              <a:gd name="adj" fmla="val 14286"/>
            </a:avLst>
          </a:prstGeom>
          <a:solidFill>
            <a:srgbClr val="E8672F"/>
          </a:solidFill>
          <a:ln/>
        </p:spPr>
      </p:sp>
      <p:sp>
        <p:nvSpPr>
          <p:cNvPr id="14" name="Text 12"/>
          <p:cNvSpPr txBox="1"/>
          <p:nvPr/>
        </p:nvSpPr>
        <p:spPr>
          <a:xfrm>
            <a:off x="5760720" y="3931920"/>
            <a:ext cx="5669280" cy="822960"/>
          </a:xfrm>
          <a:prstGeom prst="rect">
            <a:avLst/>
          </a:prstGeom>
          <a:noFill/>
          <a:ln/>
        </p:spPr>
        <p:txBody>
          <a:bodyPr wrap="square" lIns="0" tIns="0" rIns="0" bIns="0" rtlCol="0" anchor="ctr"/>
          <a:lstStyle/>
          <a:p>
            <a:pPr indent="0" marL="0">
              <a:lnSpc>
                <a:spcPct val="130000"/>
              </a:lnSpc>
              <a:buNone/>
            </a:pPr>
            <a:r>
              <a:rPr lang="en-US" sz="1350" dirty="0">
                <a:solidFill>
                  <a:srgbClr val="A9B0BB"/>
                </a:solidFill>
              </a:rPr>
              <a:t>Every line hits 90 to 97% of target speed. The loss is time stopped, not slow running.</a:t>
            </a:r>
            <a:endParaRPr lang="en-US" sz="1350" dirty="0"/>
          </a:p>
        </p:txBody>
      </p:sp>
      <p:sp>
        <p:nvSpPr>
          <p:cNvPr id="15" name="Text 13"/>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A9B0BB"/>
                </a:solidFill>
              </a:rPr>
              <a:t>HSRW Datathon 2026  |  BBMED Production Data Challenge  |  Pablo De Villota and Ahmed Azzeh</a:t>
            </a:r>
            <a:endParaRPr lang="en-US" sz="1000" dirty="0"/>
          </a:p>
        </p:txBody>
      </p:sp>
      <p:sp>
        <p:nvSpPr>
          <p:cNvPr id="16" name="Text 14"/>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A9B0BB"/>
                </a:solidFill>
              </a:rPr>
              <a:t>05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1, BY LINE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Uptime decides the ranking, not speed</a:t>
            </a:r>
            <a:endParaRPr lang="en-US" sz="3200" dirty="0"/>
          </a:p>
        </p:txBody>
      </p:sp>
      <p:sp>
        <p:nvSpPr>
          <p:cNvPr id="4" name="Text 2"/>
          <p:cNvSpPr txBox="1"/>
          <p:nvPr/>
        </p:nvSpPr>
        <p:spPr>
          <a:xfrm>
            <a:off x="548640" y="1965960"/>
            <a:ext cx="1188720" cy="457200"/>
          </a:xfrm>
          <a:prstGeom prst="rect">
            <a:avLst/>
          </a:prstGeom>
          <a:noFill/>
          <a:ln/>
        </p:spPr>
        <p:txBody>
          <a:bodyPr wrap="square" lIns="0" tIns="0" rIns="0" bIns="0" rtlCol="0" anchor="ctr"/>
          <a:lstStyle/>
          <a:p>
            <a:pPr indent="0" marL="0">
              <a:buNone/>
            </a:pPr>
            <a:r>
              <a:rPr lang="en-US" sz="1800" b="1" dirty="0">
                <a:solidFill>
                  <a:srgbClr val="1C2028"/>
                </a:solidFill>
              </a:rPr>
              <a:t>KM1</a:t>
            </a:r>
            <a:endParaRPr lang="en-US" sz="1800" dirty="0"/>
          </a:p>
        </p:txBody>
      </p:sp>
      <p:sp>
        <p:nvSpPr>
          <p:cNvPr id="5" name="Shape 3"/>
          <p:cNvSpPr/>
          <p:nvPr/>
        </p:nvSpPr>
        <p:spPr>
          <a:xfrm>
            <a:off x="1828800" y="1984248"/>
            <a:ext cx="6807799" cy="182880"/>
          </a:xfrm>
          <a:prstGeom prst="roundRect">
            <a:avLst>
              <a:gd name="adj" fmla="val 15000"/>
            </a:avLst>
          </a:prstGeom>
          <a:solidFill>
            <a:srgbClr val="3B7DD8"/>
          </a:solidFill>
          <a:ln/>
        </p:spPr>
      </p:sp>
      <p:sp>
        <p:nvSpPr>
          <p:cNvPr id="6" name="Text 4"/>
          <p:cNvSpPr txBox="1"/>
          <p:nvPr/>
        </p:nvSpPr>
        <p:spPr>
          <a:xfrm>
            <a:off x="8709751" y="1920240"/>
            <a:ext cx="731520" cy="292608"/>
          </a:xfrm>
          <a:prstGeom prst="rect">
            <a:avLst/>
          </a:prstGeom>
          <a:noFill/>
          <a:ln/>
        </p:spPr>
        <p:txBody>
          <a:bodyPr wrap="square" lIns="0" tIns="0" rIns="0" bIns="0" rtlCol="0" anchor="ctr"/>
          <a:lstStyle/>
          <a:p>
            <a:pPr indent="0" marL="0">
              <a:buNone/>
            </a:pPr>
            <a:r>
              <a:rPr lang="en-US" sz="1100" dirty="0">
                <a:solidFill>
                  <a:srgbClr val="5D6470"/>
                </a:solidFill>
              </a:rPr>
              <a:t>89.7%</a:t>
            </a:r>
            <a:endParaRPr lang="en-US" sz="1100" dirty="0"/>
          </a:p>
        </p:txBody>
      </p:sp>
      <p:sp>
        <p:nvSpPr>
          <p:cNvPr id="7" name="Shape 5"/>
          <p:cNvSpPr/>
          <p:nvPr/>
        </p:nvSpPr>
        <p:spPr>
          <a:xfrm>
            <a:off x="1828800" y="2240280"/>
            <a:ext cx="4189415" cy="182880"/>
          </a:xfrm>
          <a:prstGeom prst="roundRect">
            <a:avLst>
              <a:gd name="adj" fmla="val 15000"/>
            </a:avLst>
          </a:prstGeom>
          <a:solidFill>
            <a:srgbClr val="E8672F"/>
          </a:solidFill>
          <a:ln/>
        </p:spPr>
      </p:sp>
      <p:sp>
        <p:nvSpPr>
          <p:cNvPr id="8" name="Text 6"/>
          <p:cNvSpPr txBox="1"/>
          <p:nvPr/>
        </p:nvSpPr>
        <p:spPr>
          <a:xfrm>
            <a:off x="6091367" y="2176272"/>
            <a:ext cx="731520" cy="292608"/>
          </a:xfrm>
          <a:prstGeom prst="rect">
            <a:avLst/>
          </a:prstGeom>
          <a:noFill/>
          <a:ln/>
        </p:spPr>
        <p:txBody>
          <a:bodyPr wrap="square" lIns="0" tIns="0" rIns="0" bIns="0" rtlCol="0" anchor="ctr"/>
          <a:lstStyle/>
          <a:p>
            <a:pPr indent="0" marL="0">
              <a:buNone/>
            </a:pPr>
            <a:r>
              <a:rPr lang="en-US" sz="1100" dirty="0">
                <a:solidFill>
                  <a:srgbClr val="5D6470"/>
                </a:solidFill>
              </a:rPr>
              <a:t>55.2%</a:t>
            </a:r>
            <a:endParaRPr lang="en-US" sz="1100" dirty="0"/>
          </a:p>
        </p:txBody>
      </p:sp>
      <p:sp>
        <p:nvSpPr>
          <p:cNvPr id="9" name="Text 7"/>
          <p:cNvSpPr txBox="1"/>
          <p:nvPr/>
        </p:nvSpPr>
        <p:spPr>
          <a:xfrm>
            <a:off x="9966960" y="2057400"/>
            <a:ext cx="1645920" cy="411480"/>
          </a:xfrm>
          <a:prstGeom prst="rect">
            <a:avLst/>
          </a:prstGeom>
          <a:noFill/>
          <a:ln/>
        </p:spPr>
        <p:txBody>
          <a:bodyPr wrap="square" lIns="0" tIns="0" rIns="0" bIns="0" rtlCol="0" anchor="ctr"/>
          <a:lstStyle/>
          <a:p>
            <a:pPr algn="r" indent="0" marL="0">
              <a:buNone/>
            </a:pPr>
            <a:r>
              <a:rPr lang="en-US" sz="1500" b="1" dirty="0">
                <a:solidFill>
                  <a:srgbClr val="1C2028"/>
                </a:solidFill>
              </a:rPr>
              <a:t>OEE 49.9%</a:t>
            </a:r>
            <a:endParaRPr lang="en-US" sz="1500" dirty="0"/>
          </a:p>
        </p:txBody>
      </p:sp>
      <p:sp>
        <p:nvSpPr>
          <p:cNvPr id="10" name="Text 8"/>
          <p:cNvSpPr txBox="1"/>
          <p:nvPr/>
        </p:nvSpPr>
        <p:spPr>
          <a:xfrm>
            <a:off x="548640" y="2743200"/>
            <a:ext cx="1188720" cy="457200"/>
          </a:xfrm>
          <a:prstGeom prst="rect">
            <a:avLst/>
          </a:prstGeom>
          <a:noFill/>
          <a:ln/>
        </p:spPr>
        <p:txBody>
          <a:bodyPr wrap="square" lIns="0" tIns="0" rIns="0" bIns="0" rtlCol="0" anchor="ctr"/>
          <a:lstStyle/>
          <a:p>
            <a:pPr indent="0" marL="0">
              <a:buNone/>
            </a:pPr>
            <a:r>
              <a:rPr lang="en-US" sz="1800" b="1" dirty="0">
                <a:solidFill>
                  <a:srgbClr val="1C2028"/>
                </a:solidFill>
              </a:rPr>
              <a:t>KM2</a:t>
            </a:r>
            <a:endParaRPr lang="en-US" sz="1800" dirty="0"/>
          </a:p>
        </p:txBody>
      </p:sp>
      <p:sp>
        <p:nvSpPr>
          <p:cNvPr id="11" name="Shape 9"/>
          <p:cNvSpPr/>
          <p:nvPr/>
        </p:nvSpPr>
        <p:spPr>
          <a:xfrm>
            <a:off x="1828800" y="2761488"/>
            <a:ext cx="7141738" cy="182880"/>
          </a:xfrm>
          <a:prstGeom prst="roundRect">
            <a:avLst>
              <a:gd name="adj" fmla="val 15000"/>
            </a:avLst>
          </a:prstGeom>
          <a:solidFill>
            <a:srgbClr val="3B7DD8"/>
          </a:solidFill>
          <a:ln/>
        </p:spPr>
      </p:sp>
      <p:sp>
        <p:nvSpPr>
          <p:cNvPr id="12" name="Text 10"/>
          <p:cNvSpPr txBox="1"/>
          <p:nvPr/>
        </p:nvSpPr>
        <p:spPr>
          <a:xfrm>
            <a:off x="9043690" y="2697480"/>
            <a:ext cx="731520" cy="292608"/>
          </a:xfrm>
          <a:prstGeom prst="rect">
            <a:avLst/>
          </a:prstGeom>
          <a:noFill/>
          <a:ln/>
        </p:spPr>
        <p:txBody>
          <a:bodyPr wrap="square" lIns="0" tIns="0" rIns="0" bIns="0" rtlCol="0" anchor="ctr"/>
          <a:lstStyle/>
          <a:p>
            <a:pPr indent="0" marL="0">
              <a:buNone/>
            </a:pPr>
            <a:r>
              <a:rPr lang="en-US" sz="1100" dirty="0">
                <a:solidFill>
                  <a:srgbClr val="5D6470"/>
                </a:solidFill>
              </a:rPr>
              <a:t>94.1%</a:t>
            </a:r>
            <a:endParaRPr lang="en-US" sz="1100" dirty="0"/>
          </a:p>
        </p:txBody>
      </p:sp>
      <p:sp>
        <p:nvSpPr>
          <p:cNvPr id="13" name="Shape 11"/>
          <p:cNvSpPr/>
          <p:nvPr/>
        </p:nvSpPr>
        <p:spPr>
          <a:xfrm>
            <a:off x="1828800" y="3017520"/>
            <a:ext cx="3551895" cy="182880"/>
          </a:xfrm>
          <a:prstGeom prst="roundRect">
            <a:avLst>
              <a:gd name="adj" fmla="val 15000"/>
            </a:avLst>
          </a:prstGeom>
          <a:solidFill>
            <a:srgbClr val="E8672F"/>
          </a:solidFill>
          <a:ln/>
        </p:spPr>
      </p:sp>
      <p:sp>
        <p:nvSpPr>
          <p:cNvPr id="14" name="Text 12"/>
          <p:cNvSpPr txBox="1"/>
          <p:nvPr/>
        </p:nvSpPr>
        <p:spPr>
          <a:xfrm>
            <a:off x="5453847" y="2953512"/>
            <a:ext cx="731520" cy="292608"/>
          </a:xfrm>
          <a:prstGeom prst="rect">
            <a:avLst/>
          </a:prstGeom>
          <a:noFill/>
          <a:ln/>
        </p:spPr>
        <p:txBody>
          <a:bodyPr wrap="square" lIns="0" tIns="0" rIns="0" bIns="0" rtlCol="0" anchor="ctr"/>
          <a:lstStyle/>
          <a:p>
            <a:pPr indent="0" marL="0">
              <a:buNone/>
            </a:pPr>
            <a:r>
              <a:rPr lang="en-US" sz="1100" dirty="0">
                <a:solidFill>
                  <a:srgbClr val="5D6470"/>
                </a:solidFill>
              </a:rPr>
              <a:t>46.8%</a:t>
            </a:r>
            <a:endParaRPr lang="en-US" sz="1100" dirty="0"/>
          </a:p>
        </p:txBody>
      </p:sp>
      <p:sp>
        <p:nvSpPr>
          <p:cNvPr id="15" name="Text 13"/>
          <p:cNvSpPr txBox="1"/>
          <p:nvPr/>
        </p:nvSpPr>
        <p:spPr>
          <a:xfrm>
            <a:off x="9966960" y="2834640"/>
            <a:ext cx="1645920" cy="411480"/>
          </a:xfrm>
          <a:prstGeom prst="rect">
            <a:avLst/>
          </a:prstGeom>
          <a:noFill/>
          <a:ln/>
        </p:spPr>
        <p:txBody>
          <a:bodyPr wrap="square" lIns="0" tIns="0" rIns="0" bIns="0" rtlCol="0" anchor="ctr"/>
          <a:lstStyle/>
          <a:p>
            <a:pPr algn="r" indent="0" marL="0">
              <a:buNone/>
            </a:pPr>
            <a:r>
              <a:rPr lang="en-US" sz="1500" b="1" dirty="0">
                <a:solidFill>
                  <a:srgbClr val="1C2028"/>
                </a:solidFill>
              </a:rPr>
              <a:t>OEE 44.1%</a:t>
            </a:r>
            <a:endParaRPr lang="en-US" sz="1500" dirty="0"/>
          </a:p>
        </p:txBody>
      </p:sp>
      <p:sp>
        <p:nvSpPr>
          <p:cNvPr id="16" name="Text 14"/>
          <p:cNvSpPr txBox="1"/>
          <p:nvPr/>
        </p:nvSpPr>
        <p:spPr>
          <a:xfrm>
            <a:off x="548640" y="3520440"/>
            <a:ext cx="1188720" cy="457200"/>
          </a:xfrm>
          <a:prstGeom prst="rect">
            <a:avLst/>
          </a:prstGeom>
          <a:noFill/>
          <a:ln/>
        </p:spPr>
        <p:txBody>
          <a:bodyPr wrap="square" lIns="0" tIns="0" rIns="0" bIns="0" rtlCol="0" anchor="ctr"/>
          <a:lstStyle/>
          <a:p>
            <a:pPr indent="0" marL="0">
              <a:buNone/>
            </a:pPr>
            <a:r>
              <a:rPr lang="en-US" sz="1800" b="1" dirty="0">
                <a:solidFill>
                  <a:srgbClr val="1C2028"/>
                </a:solidFill>
              </a:rPr>
              <a:t>AXO12</a:t>
            </a:r>
            <a:endParaRPr lang="en-US" sz="1800" dirty="0"/>
          </a:p>
        </p:txBody>
      </p:sp>
      <p:sp>
        <p:nvSpPr>
          <p:cNvPr id="17" name="Shape 15"/>
          <p:cNvSpPr/>
          <p:nvPr/>
        </p:nvSpPr>
        <p:spPr>
          <a:xfrm>
            <a:off x="1828800" y="3538728"/>
            <a:ext cx="7263171" cy="182880"/>
          </a:xfrm>
          <a:prstGeom prst="roundRect">
            <a:avLst>
              <a:gd name="adj" fmla="val 15000"/>
            </a:avLst>
          </a:prstGeom>
          <a:solidFill>
            <a:srgbClr val="3B7DD8"/>
          </a:solidFill>
          <a:ln/>
        </p:spPr>
      </p:sp>
      <p:sp>
        <p:nvSpPr>
          <p:cNvPr id="18" name="Text 16"/>
          <p:cNvSpPr txBox="1"/>
          <p:nvPr/>
        </p:nvSpPr>
        <p:spPr>
          <a:xfrm>
            <a:off x="9165123" y="3474720"/>
            <a:ext cx="731520" cy="292608"/>
          </a:xfrm>
          <a:prstGeom prst="rect">
            <a:avLst/>
          </a:prstGeom>
          <a:noFill/>
          <a:ln/>
        </p:spPr>
        <p:txBody>
          <a:bodyPr wrap="square" lIns="0" tIns="0" rIns="0" bIns="0" rtlCol="0" anchor="ctr"/>
          <a:lstStyle/>
          <a:p>
            <a:pPr indent="0" marL="0">
              <a:buNone/>
            </a:pPr>
            <a:r>
              <a:rPr lang="en-US" sz="1100" dirty="0">
                <a:solidFill>
                  <a:srgbClr val="5D6470"/>
                </a:solidFill>
              </a:rPr>
              <a:t>95.7%</a:t>
            </a:r>
            <a:endParaRPr lang="en-US" sz="1100" dirty="0"/>
          </a:p>
        </p:txBody>
      </p:sp>
      <p:sp>
        <p:nvSpPr>
          <p:cNvPr id="19" name="Shape 17"/>
          <p:cNvSpPr/>
          <p:nvPr/>
        </p:nvSpPr>
        <p:spPr>
          <a:xfrm>
            <a:off x="1828800" y="3794760"/>
            <a:ext cx="3081345" cy="182880"/>
          </a:xfrm>
          <a:prstGeom prst="roundRect">
            <a:avLst>
              <a:gd name="adj" fmla="val 15000"/>
            </a:avLst>
          </a:prstGeom>
          <a:solidFill>
            <a:srgbClr val="E8672F"/>
          </a:solidFill>
          <a:ln/>
        </p:spPr>
      </p:sp>
      <p:sp>
        <p:nvSpPr>
          <p:cNvPr id="20" name="Text 18"/>
          <p:cNvSpPr txBox="1"/>
          <p:nvPr/>
        </p:nvSpPr>
        <p:spPr>
          <a:xfrm>
            <a:off x="4983297" y="3730752"/>
            <a:ext cx="731520" cy="292608"/>
          </a:xfrm>
          <a:prstGeom prst="rect">
            <a:avLst/>
          </a:prstGeom>
          <a:noFill/>
          <a:ln/>
        </p:spPr>
        <p:txBody>
          <a:bodyPr wrap="square" lIns="0" tIns="0" rIns="0" bIns="0" rtlCol="0" anchor="ctr"/>
          <a:lstStyle/>
          <a:p>
            <a:pPr indent="0" marL="0">
              <a:buNone/>
            </a:pPr>
            <a:r>
              <a:rPr lang="en-US" sz="1100" dirty="0">
                <a:solidFill>
                  <a:srgbClr val="5D6470"/>
                </a:solidFill>
              </a:rPr>
              <a:t>40.6%</a:t>
            </a:r>
            <a:endParaRPr lang="en-US" sz="1100" dirty="0"/>
          </a:p>
        </p:txBody>
      </p:sp>
      <p:sp>
        <p:nvSpPr>
          <p:cNvPr id="21" name="Text 19"/>
          <p:cNvSpPr txBox="1"/>
          <p:nvPr/>
        </p:nvSpPr>
        <p:spPr>
          <a:xfrm>
            <a:off x="9966960" y="3611880"/>
            <a:ext cx="1645920" cy="411480"/>
          </a:xfrm>
          <a:prstGeom prst="rect">
            <a:avLst/>
          </a:prstGeom>
          <a:noFill/>
          <a:ln/>
        </p:spPr>
        <p:txBody>
          <a:bodyPr wrap="square" lIns="0" tIns="0" rIns="0" bIns="0" rtlCol="0" anchor="ctr"/>
          <a:lstStyle/>
          <a:p>
            <a:pPr algn="r" indent="0" marL="0">
              <a:buNone/>
            </a:pPr>
            <a:r>
              <a:rPr lang="en-US" sz="1500" b="1" dirty="0">
                <a:solidFill>
                  <a:srgbClr val="1C2028"/>
                </a:solidFill>
              </a:rPr>
              <a:t>OEE 39.4%</a:t>
            </a:r>
            <a:endParaRPr lang="en-US" sz="1500" dirty="0"/>
          </a:p>
        </p:txBody>
      </p:sp>
      <p:sp>
        <p:nvSpPr>
          <p:cNvPr id="22" name="Text 20"/>
          <p:cNvSpPr txBox="1"/>
          <p:nvPr/>
        </p:nvSpPr>
        <p:spPr>
          <a:xfrm>
            <a:off x="548640" y="4297680"/>
            <a:ext cx="1188720" cy="457200"/>
          </a:xfrm>
          <a:prstGeom prst="rect">
            <a:avLst/>
          </a:prstGeom>
          <a:noFill/>
          <a:ln/>
        </p:spPr>
        <p:txBody>
          <a:bodyPr wrap="square" lIns="0" tIns="0" rIns="0" bIns="0" rtlCol="0" anchor="ctr"/>
          <a:lstStyle/>
          <a:p>
            <a:pPr indent="0" marL="0">
              <a:buNone/>
            </a:pPr>
            <a:r>
              <a:rPr lang="en-US" sz="1800" b="1" dirty="0">
                <a:solidFill>
                  <a:srgbClr val="1C2028"/>
                </a:solidFill>
              </a:rPr>
              <a:t>AXO11</a:t>
            </a:r>
            <a:endParaRPr lang="en-US" sz="1800" dirty="0"/>
          </a:p>
        </p:txBody>
      </p:sp>
      <p:sp>
        <p:nvSpPr>
          <p:cNvPr id="23" name="Shape 21"/>
          <p:cNvSpPr/>
          <p:nvPr/>
        </p:nvSpPr>
        <p:spPr>
          <a:xfrm>
            <a:off x="1828800" y="4315968"/>
            <a:ext cx="7293529" cy="182880"/>
          </a:xfrm>
          <a:prstGeom prst="roundRect">
            <a:avLst>
              <a:gd name="adj" fmla="val 15000"/>
            </a:avLst>
          </a:prstGeom>
          <a:solidFill>
            <a:srgbClr val="3B7DD8"/>
          </a:solidFill>
          <a:ln/>
        </p:spPr>
      </p:sp>
      <p:sp>
        <p:nvSpPr>
          <p:cNvPr id="24" name="Text 22"/>
          <p:cNvSpPr txBox="1"/>
          <p:nvPr/>
        </p:nvSpPr>
        <p:spPr>
          <a:xfrm>
            <a:off x="9195481" y="4251960"/>
            <a:ext cx="731520" cy="292608"/>
          </a:xfrm>
          <a:prstGeom prst="rect">
            <a:avLst/>
          </a:prstGeom>
          <a:noFill/>
          <a:ln/>
        </p:spPr>
        <p:txBody>
          <a:bodyPr wrap="square" lIns="0" tIns="0" rIns="0" bIns="0" rtlCol="0" anchor="ctr"/>
          <a:lstStyle/>
          <a:p>
            <a:pPr indent="0" marL="0">
              <a:buNone/>
            </a:pPr>
            <a:r>
              <a:rPr lang="en-US" sz="1100" dirty="0">
                <a:solidFill>
                  <a:srgbClr val="5D6470"/>
                </a:solidFill>
              </a:rPr>
              <a:t>96.1%</a:t>
            </a:r>
            <a:endParaRPr lang="en-US" sz="1100" dirty="0"/>
          </a:p>
        </p:txBody>
      </p:sp>
      <p:sp>
        <p:nvSpPr>
          <p:cNvPr id="25" name="Shape 23"/>
          <p:cNvSpPr/>
          <p:nvPr/>
        </p:nvSpPr>
        <p:spPr>
          <a:xfrm>
            <a:off x="1828800" y="4572000"/>
            <a:ext cx="3013039" cy="182880"/>
          </a:xfrm>
          <a:prstGeom prst="roundRect">
            <a:avLst>
              <a:gd name="adj" fmla="val 15000"/>
            </a:avLst>
          </a:prstGeom>
          <a:solidFill>
            <a:srgbClr val="E8672F"/>
          </a:solidFill>
          <a:ln/>
        </p:spPr>
      </p:sp>
      <p:sp>
        <p:nvSpPr>
          <p:cNvPr id="26" name="Text 24"/>
          <p:cNvSpPr txBox="1"/>
          <p:nvPr/>
        </p:nvSpPr>
        <p:spPr>
          <a:xfrm>
            <a:off x="4914991" y="4507992"/>
            <a:ext cx="731520" cy="292608"/>
          </a:xfrm>
          <a:prstGeom prst="rect">
            <a:avLst/>
          </a:prstGeom>
          <a:noFill/>
          <a:ln/>
        </p:spPr>
        <p:txBody>
          <a:bodyPr wrap="square" lIns="0" tIns="0" rIns="0" bIns="0" rtlCol="0" anchor="ctr"/>
          <a:lstStyle/>
          <a:p>
            <a:pPr indent="0" marL="0">
              <a:buNone/>
            </a:pPr>
            <a:r>
              <a:rPr lang="en-US" sz="1100" dirty="0">
                <a:solidFill>
                  <a:srgbClr val="5D6470"/>
                </a:solidFill>
              </a:rPr>
              <a:t>39.7%</a:t>
            </a:r>
            <a:endParaRPr lang="en-US" sz="1100" dirty="0"/>
          </a:p>
        </p:txBody>
      </p:sp>
      <p:sp>
        <p:nvSpPr>
          <p:cNvPr id="27" name="Text 25"/>
          <p:cNvSpPr txBox="1"/>
          <p:nvPr/>
        </p:nvSpPr>
        <p:spPr>
          <a:xfrm>
            <a:off x="9966960" y="4389120"/>
            <a:ext cx="1645920" cy="411480"/>
          </a:xfrm>
          <a:prstGeom prst="rect">
            <a:avLst/>
          </a:prstGeom>
          <a:noFill/>
          <a:ln/>
        </p:spPr>
        <p:txBody>
          <a:bodyPr wrap="square" lIns="0" tIns="0" rIns="0" bIns="0" rtlCol="0" anchor="ctr"/>
          <a:lstStyle/>
          <a:p>
            <a:pPr algn="r" indent="0" marL="0">
              <a:buNone/>
            </a:pPr>
            <a:r>
              <a:rPr lang="en-US" sz="1500" b="1" dirty="0">
                <a:solidFill>
                  <a:srgbClr val="1C2028"/>
                </a:solidFill>
              </a:rPr>
              <a:t>OEE 38.8%</a:t>
            </a:r>
            <a:endParaRPr lang="en-US" sz="1500" dirty="0"/>
          </a:p>
        </p:txBody>
      </p:sp>
      <p:sp>
        <p:nvSpPr>
          <p:cNvPr id="28" name="Text 26"/>
          <p:cNvSpPr txBox="1"/>
          <p:nvPr/>
        </p:nvSpPr>
        <p:spPr>
          <a:xfrm>
            <a:off x="548640" y="5074920"/>
            <a:ext cx="1188720" cy="457200"/>
          </a:xfrm>
          <a:prstGeom prst="rect">
            <a:avLst/>
          </a:prstGeom>
          <a:noFill/>
          <a:ln/>
        </p:spPr>
        <p:txBody>
          <a:bodyPr wrap="square" lIns="0" tIns="0" rIns="0" bIns="0" rtlCol="0" anchor="ctr"/>
          <a:lstStyle/>
          <a:p>
            <a:pPr indent="0" marL="0">
              <a:buNone/>
            </a:pPr>
            <a:r>
              <a:rPr lang="en-US" sz="1800" b="1" dirty="0">
                <a:solidFill>
                  <a:srgbClr val="1C2028"/>
                </a:solidFill>
              </a:rPr>
              <a:t>AXO10</a:t>
            </a:r>
            <a:endParaRPr lang="en-US" sz="1800" dirty="0"/>
          </a:p>
        </p:txBody>
      </p:sp>
      <p:sp>
        <p:nvSpPr>
          <p:cNvPr id="29" name="Shape 27"/>
          <p:cNvSpPr/>
          <p:nvPr/>
        </p:nvSpPr>
        <p:spPr>
          <a:xfrm>
            <a:off x="1828800" y="5093208"/>
            <a:ext cx="7346655" cy="182880"/>
          </a:xfrm>
          <a:prstGeom prst="roundRect">
            <a:avLst>
              <a:gd name="adj" fmla="val 15000"/>
            </a:avLst>
          </a:prstGeom>
          <a:solidFill>
            <a:srgbClr val="3B7DD8"/>
          </a:solidFill>
          <a:ln/>
        </p:spPr>
      </p:sp>
      <p:sp>
        <p:nvSpPr>
          <p:cNvPr id="30" name="Text 28"/>
          <p:cNvSpPr txBox="1"/>
          <p:nvPr/>
        </p:nvSpPr>
        <p:spPr>
          <a:xfrm>
            <a:off x="9248607" y="5029200"/>
            <a:ext cx="731520" cy="292608"/>
          </a:xfrm>
          <a:prstGeom prst="rect">
            <a:avLst/>
          </a:prstGeom>
          <a:noFill/>
          <a:ln/>
        </p:spPr>
        <p:txBody>
          <a:bodyPr wrap="square" lIns="0" tIns="0" rIns="0" bIns="0" rtlCol="0" anchor="ctr"/>
          <a:lstStyle/>
          <a:p>
            <a:pPr indent="0" marL="0">
              <a:buNone/>
            </a:pPr>
            <a:r>
              <a:rPr lang="en-US" sz="1100" dirty="0">
                <a:solidFill>
                  <a:srgbClr val="5D6470"/>
                </a:solidFill>
              </a:rPr>
              <a:t>96.8%</a:t>
            </a:r>
            <a:endParaRPr lang="en-US" sz="1100" dirty="0"/>
          </a:p>
        </p:txBody>
      </p:sp>
      <p:sp>
        <p:nvSpPr>
          <p:cNvPr id="31" name="Shape 29"/>
          <p:cNvSpPr/>
          <p:nvPr/>
        </p:nvSpPr>
        <p:spPr>
          <a:xfrm>
            <a:off x="1828800" y="5349240"/>
            <a:ext cx="2937144" cy="182880"/>
          </a:xfrm>
          <a:prstGeom prst="roundRect">
            <a:avLst>
              <a:gd name="adj" fmla="val 15000"/>
            </a:avLst>
          </a:prstGeom>
          <a:solidFill>
            <a:srgbClr val="E8672F"/>
          </a:solidFill>
          <a:ln/>
        </p:spPr>
      </p:sp>
      <p:sp>
        <p:nvSpPr>
          <p:cNvPr id="32" name="Text 30"/>
          <p:cNvSpPr txBox="1"/>
          <p:nvPr/>
        </p:nvSpPr>
        <p:spPr>
          <a:xfrm>
            <a:off x="4839096" y="5285232"/>
            <a:ext cx="731520" cy="292608"/>
          </a:xfrm>
          <a:prstGeom prst="rect">
            <a:avLst/>
          </a:prstGeom>
          <a:noFill/>
          <a:ln/>
        </p:spPr>
        <p:txBody>
          <a:bodyPr wrap="square" lIns="0" tIns="0" rIns="0" bIns="0" rtlCol="0" anchor="ctr"/>
          <a:lstStyle/>
          <a:p>
            <a:pPr indent="0" marL="0">
              <a:buNone/>
            </a:pPr>
            <a:r>
              <a:rPr lang="en-US" sz="1100" dirty="0">
                <a:solidFill>
                  <a:srgbClr val="5D6470"/>
                </a:solidFill>
              </a:rPr>
              <a:t>38.7%</a:t>
            </a:r>
            <a:endParaRPr lang="en-US" sz="1100" dirty="0"/>
          </a:p>
        </p:txBody>
      </p:sp>
      <p:sp>
        <p:nvSpPr>
          <p:cNvPr id="33" name="Text 31"/>
          <p:cNvSpPr txBox="1"/>
          <p:nvPr/>
        </p:nvSpPr>
        <p:spPr>
          <a:xfrm>
            <a:off x="9966960" y="5166360"/>
            <a:ext cx="1645920" cy="411480"/>
          </a:xfrm>
          <a:prstGeom prst="rect">
            <a:avLst/>
          </a:prstGeom>
          <a:noFill/>
          <a:ln/>
        </p:spPr>
        <p:txBody>
          <a:bodyPr wrap="square" lIns="0" tIns="0" rIns="0" bIns="0" rtlCol="0" anchor="ctr"/>
          <a:lstStyle/>
          <a:p>
            <a:pPr algn="r" indent="0" marL="0">
              <a:buNone/>
            </a:pPr>
            <a:r>
              <a:rPr lang="en-US" sz="1500" b="1" dirty="0">
                <a:solidFill>
                  <a:srgbClr val="1C2028"/>
                </a:solidFill>
              </a:rPr>
              <a:t>OEE 38.1%</a:t>
            </a:r>
            <a:endParaRPr lang="en-US" sz="1500" dirty="0"/>
          </a:p>
        </p:txBody>
      </p:sp>
      <p:sp>
        <p:nvSpPr>
          <p:cNvPr id="34" name="Shape 32"/>
          <p:cNvSpPr/>
          <p:nvPr/>
        </p:nvSpPr>
        <p:spPr>
          <a:xfrm>
            <a:off x="548640" y="5989320"/>
            <a:ext cx="164592" cy="164592"/>
          </a:xfrm>
          <a:prstGeom prst="rect">
            <a:avLst/>
          </a:prstGeom>
          <a:solidFill>
            <a:srgbClr val="3B7DD8"/>
          </a:solidFill>
          <a:ln/>
        </p:spPr>
      </p:sp>
      <p:sp>
        <p:nvSpPr>
          <p:cNvPr id="35" name="Text 33"/>
          <p:cNvSpPr txBox="1"/>
          <p:nvPr/>
        </p:nvSpPr>
        <p:spPr>
          <a:xfrm>
            <a:off x="786384" y="5943600"/>
            <a:ext cx="1463040" cy="274320"/>
          </a:xfrm>
          <a:prstGeom prst="rect">
            <a:avLst/>
          </a:prstGeom>
          <a:noFill/>
          <a:ln/>
        </p:spPr>
        <p:txBody>
          <a:bodyPr wrap="square" lIns="0" tIns="0" rIns="0" bIns="0" rtlCol="0" anchor="ctr"/>
          <a:lstStyle/>
          <a:p>
            <a:pPr indent="0" marL="0">
              <a:buNone/>
            </a:pPr>
            <a:r>
              <a:rPr lang="en-US" sz="1150" dirty="0">
                <a:solidFill>
                  <a:srgbClr val="5D6470"/>
                </a:solidFill>
              </a:rPr>
              <a:t>Performance</a:t>
            </a:r>
            <a:endParaRPr lang="en-US" sz="1150" dirty="0"/>
          </a:p>
        </p:txBody>
      </p:sp>
      <p:sp>
        <p:nvSpPr>
          <p:cNvPr id="36" name="Shape 34"/>
          <p:cNvSpPr/>
          <p:nvPr/>
        </p:nvSpPr>
        <p:spPr>
          <a:xfrm>
            <a:off x="2103120" y="5989320"/>
            <a:ext cx="164592" cy="164592"/>
          </a:xfrm>
          <a:prstGeom prst="rect">
            <a:avLst/>
          </a:prstGeom>
          <a:solidFill>
            <a:srgbClr val="E8672F"/>
          </a:solidFill>
          <a:ln/>
        </p:spPr>
      </p:sp>
      <p:sp>
        <p:nvSpPr>
          <p:cNvPr id="37" name="Text 35"/>
          <p:cNvSpPr txBox="1"/>
          <p:nvPr/>
        </p:nvSpPr>
        <p:spPr>
          <a:xfrm>
            <a:off x="2340864" y="5943600"/>
            <a:ext cx="1463040" cy="274320"/>
          </a:xfrm>
          <a:prstGeom prst="rect">
            <a:avLst/>
          </a:prstGeom>
          <a:noFill/>
          <a:ln/>
        </p:spPr>
        <p:txBody>
          <a:bodyPr wrap="square" lIns="0" tIns="0" rIns="0" bIns="0" rtlCol="0" anchor="ctr"/>
          <a:lstStyle/>
          <a:p>
            <a:pPr indent="0" marL="0">
              <a:buNone/>
            </a:pPr>
            <a:r>
              <a:rPr lang="en-US" sz="1150" dirty="0">
                <a:solidFill>
                  <a:srgbClr val="5D6470"/>
                </a:solidFill>
              </a:rPr>
              <a:t>Availability</a:t>
            </a:r>
            <a:endParaRPr lang="en-US" sz="1150" dirty="0"/>
          </a:p>
        </p:txBody>
      </p:sp>
      <p:sp>
        <p:nvSpPr>
          <p:cNvPr id="38" name="Text 36"/>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39" name="Text 37"/>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06 /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2, ORDER SIZE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Bigger orders run better, purely through uptime</a:t>
            </a:r>
            <a:endParaRPr lang="en-US" sz="3200" dirty="0"/>
          </a:p>
        </p:txBody>
      </p:sp>
      <p:sp>
        <p:nvSpPr>
          <p:cNvPr id="4" name="Text 2"/>
          <p:cNvSpPr txBox="1"/>
          <p:nvPr/>
        </p:nvSpPr>
        <p:spPr>
          <a:xfrm>
            <a:off x="548640" y="3522934"/>
            <a:ext cx="1005840" cy="365760"/>
          </a:xfrm>
          <a:prstGeom prst="rect">
            <a:avLst/>
          </a:prstGeom>
          <a:noFill/>
          <a:ln/>
        </p:spPr>
        <p:txBody>
          <a:bodyPr wrap="square" lIns="0" tIns="0" rIns="0" bIns="0" rtlCol="0" anchor="ctr"/>
          <a:lstStyle/>
          <a:p>
            <a:pPr algn="ctr" indent="0" marL="0">
              <a:buNone/>
            </a:pPr>
            <a:r>
              <a:rPr lang="en-US" sz="1700" b="1" dirty="0">
                <a:solidFill>
                  <a:srgbClr val="1C2028"/>
                </a:solidFill>
              </a:rPr>
              <a:t>33.5%</a:t>
            </a:r>
            <a:endParaRPr lang="en-US" sz="1700" dirty="0"/>
          </a:p>
        </p:txBody>
      </p:sp>
      <p:sp>
        <p:nvSpPr>
          <p:cNvPr id="5" name="Shape 3"/>
          <p:cNvSpPr/>
          <p:nvPr/>
        </p:nvSpPr>
        <p:spPr>
          <a:xfrm>
            <a:off x="548640" y="3906982"/>
            <a:ext cx="1005840" cy="1670858"/>
          </a:xfrm>
          <a:prstGeom prst="roundRect">
            <a:avLst>
              <a:gd name="adj" fmla="val 3636"/>
            </a:avLst>
          </a:prstGeom>
          <a:solidFill>
            <a:srgbClr val="C9C4B8"/>
          </a:solidFill>
          <a:ln/>
        </p:spPr>
      </p:sp>
      <p:sp>
        <p:nvSpPr>
          <p:cNvPr id="6" name="Text 4"/>
          <p:cNvSpPr txBox="1"/>
          <p:nvPr/>
        </p:nvSpPr>
        <p:spPr>
          <a:xfrm>
            <a:off x="411480" y="5650992"/>
            <a:ext cx="1280160" cy="320040"/>
          </a:xfrm>
          <a:prstGeom prst="rect">
            <a:avLst/>
          </a:prstGeom>
          <a:noFill/>
          <a:ln/>
        </p:spPr>
        <p:txBody>
          <a:bodyPr wrap="square" lIns="0" tIns="0" rIns="0" bIns="0" rtlCol="0" anchor="ctr"/>
          <a:lstStyle/>
          <a:p>
            <a:pPr algn="ctr" indent="0" marL="0">
              <a:buNone/>
            </a:pPr>
            <a:r>
              <a:rPr lang="en-US" sz="1200" b="1" dirty="0">
                <a:solidFill>
                  <a:srgbClr val="1C2028"/>
                </a:solidFill>
              </a:rPr>
              <a:t>Smallest 25%</a:t>
            </a:r>
            <a:endParaRPr lang="en-US" sz="1200" dirty="0"/>
          </a:p>
        </p:txBody>
      </p:sp>
      <p:sp>
        <p:nvSpPr>
          <p:cNvPr id="7" name="Text 5"/>
          <p:cNvSpPr txBox="1"/>
          <p:nvPr/>
        </p:nvSpPr>
        <p:spPr>
          <a:xfrm>
            <a:off x="1874520" y="3193750"/>
            <a:ext cx="1005840" cy="365760"/>
          </a:xfrm>
          <a:prstGeom prst="rect">
            <a:avLst/>
          </a:prstGeom>
          <a:noFill/>
          <a:ln/>
        </p:spPr>
        <p:txBody>
          <a:bodyPr wrap="square" lIns="0" tIns="0" rIns="0" bIns="0" rtlCol="0" anchor="ctr"/>
          <a:lstStyle/>
          <a:p>
            <a:pPr algn="ctr" indent="0" marL="0">
              <a:buNone/>
            </a:pPr>
            <a:r>
              <a:rPr lang="en-US" sz="1700" b="1" dirty="0">
                <a:solidFill>
                  <a:srgbClr val="1C2028"/>
                </a:solidFill>
              </a:rPr>
              <a:t>40.1%</a:t>
            </a:r>
            <a:endParaRPr lang="en-US" sz="1700" dirty="0"/>
          </a:p>
        </p:txBody>
      </p:sp>
      <p:sp>
        <p:nvSpPr>
          <p:cNvPr id="8" name="Shape 6"/>
          <p:cNvSpPr/>
          <p:nvPr/>
        </p:nvSpPr>
        <p:spPr>
          <a:xfrm>
            <a:off x="1874520" y="3577798"/>
            <a:ext cx="1005840" cy="2000042"/>
          </a:xfrm>
          <a:prstGeom prst="roundRect">
            <a:avLst>
              <a:gd name="adj" fmla="val 3636"/>
            </a:avLst>
          </a:prstGeom>
          <a:solidFill>
            <a:srgbClr val="C9C4B8"/>
          </a:solidFill>
          <a:ln/>
        </p:spPr>
      </p:sp>
      <p:sp>
        <p:nvSpPr>
          <p:cNvPr id="9" name="Text 7"/>
          <p:cNvSpPr txBox="1"/>
          <p:nvPr/>
        </p:nvSpPr>
        <p:spPr>
          <a:xfrm>
            <a:off x="1737360" y="5650992"/>
            <a:ext cx="1280160" cy="320040"/>
          </a:xfrm>
          <a:prstGeom prst="rect">
            <a:avLst/>
          </a:prstGeom>
          <a:noFill/>
          <a:ln/>
        </p:spPr>
        <p:txBody>
          <a:bodyPr wrap="square" lIns="0" tIns="0" rIns="0" bIns="0" rtlCol="0" anchor="ctr"/>
          <a:lstStyle/>
          <a:p>
            <a:pPr algn="ctr" indent="0" marL="0">
              <a:buNone/>
            </a:pPr>
            <a:r>
              <a:rPr lang="en-US" sz="1200" b="1" dirty="0">
                <a:solidFill>
                  <a:srgbClr val="1C2028"/>
                </a:solidFill>
              </a:rPr>
              <a:t>Small-mid</a:t>
            </a:r>
            <a:endParaRPr lang="en-US" sz="1200" dirty="0"/>
          </a:p>
        </p:txBody>
      </p:sp>
      <p:sp>
        <p:nvSpPr>
          <p:cNvPr id="10" name="Text 8"/>
          <p:cNvSpPr txBox="1"/>
          <p:nvPr/>
        </p:nvSpPr>
        <p:spPr>
          <a:xfrm>
            <a:off x="3200400" y="2964319"/>
            <a:ext cx="1005840" cy="365760"/>
          </a:xfrm>
          <a:prstGeom prst="rect">
            <a:avLst/>
          </a:prstGeom>
          <a:noFill/>
          <a:ln/>
        </p:spPr>
        <p:txBody>
          <a:bodyPr wrap="square" lIns="0" tIns="0" rIns="0" bIns="0" rtlCol="0" anchor="ctr"/>
          <a:lstStyle/>
          <a:p>
            <a:pPr algn="ctr" indent="0" marL="0">
              <a:buNone/>
            </a:pPr>
            <a:r>
              <a:rPr lang="en-US" sz="1700" b="1" dirty="0">
                <a:solidFill>
                  <a:srgbClr val="1C2028"/>
                </a:solidFill>
              </a:rPr>
              <a:t>44.7%</a:t>
            </a:r>
            <a:endParaRPr lang="en-US" sz="1700" dirty="0"/>
          </a:p>
        </p:txBody>
      </p:sp>
      <p:sp>
        <p:nvSpPr>
          <p:cNvPr id="11" name="Shape 9"/>
          <p:cNvSpPr/>
          <p:nvPr/>
        </p:nvSpPr>
        <p:spPr>
          <a:xfrm>
            <a:off x="3200400" y="3348367"/>
            <a:ext cx="1005840" cy="2229473"/>
          </a:xfrm>
          <a:prstGeom prst="roundRect">
            <a:avLst>
              <a:gd name="adj" fmla="val 3636"/>
            </a:avLst>
          </a:prstGeom>
          <a:solidFill>
            <a:srgbClr val="C9C4B8"/>
          </a:solidFill>
          <a:ln/>
        </p:spPr>
      </p:sp>
      <p:sp>
        <p:nvSpPr>
          <p:cNvPr id="12" name="Text 10"/>
          <p:cNvSpPr txBox="1"/>
          <p:nvPr/>
        </p:nvSpPr>
        <p:spPr>
          <a:xfrm>
            <a:off x="3063240" y="5650992"/>
            <a:ext cx="1280160" cy="320040"/>
          </a:xfrm>
          <a:prstGeom prst="rect">
            <a:avLst/>
          </a:prstGeom>
          <a:noFill/>
          <a:ln/>
        </p:spPr>
        <p:txBody>
          <a:bodyPr wrap="square" lIns="0" tIns="0" rIns="0" bIns="0" rtlCol="0" anchor="ctr"/>
          <a:lstStyle/>
          <a:p>
            <a:pPr algn="ctr" indent="0" marL="0">
              <a:buNone/>
            </a:pPr>
            <a:r>
              <a:rPr lang="en-US" sz="1200" b="1" dirty="0">
                <a:solidFill>
                  <a:srgbClr val="1C2028"/>
                </a:solidFill>
              </a:rPr>
              <a:t>Mid-large</a:t>
            </a:r>
            <a:endParaRPr lang="en-US" sz="1200" dirty="0"/>
          </a:p>
        </p:txBody>
      </p:sp>
      <p:sp>
        <p:nvSpPr>
          <p:cNvPr id="13" name="Text 11"/>
          <p:cNvSpPr txBox="1"/>
          <p:nvPr/>
        </p:nvSpPr>
        <p:spPr>
          <a:xfrm>
            <a:off x="4526280" y="2645110"/>
            <a:ext cx="1005840" cy="365760"/>
          </a:xfrm>
          <a:prstGeom prst="rect">
            <a:avLst/>
          </a:prstGeom>
          <a:noFill/>
          <a:ln/>
        </p:spPr>
        <p:txBody>
          <a:bodyPr wrap="square" lIns="0" tIns="0" rIns="0" bIns="0" rtlCol="0" anchor="ctr"/>
          <a:lstStyle/>
          <a:p>
            <a:pPr algn="ctr" indent="0" marL="0">
              <a:buNone/>
            </a:pPr>
            <a:r>
              <a:rPr lang="en-US" sz="1700" b="1" dirty="0">
                <a:solidFill>
                  <a:srgbClr val="1C2028"/>
                </a:solidFill>
              </a:rPr>
              <a:t>51.1%</a:t>
            </a:r>
            <a:endParaRPr lang="en-US" sz="1700" dirty="0"/>
          </a:p>
        </p:txBody>
      </p:sp>
      <p:sp>
        <p:nvSpPr>
          <p:cNvPr id="14" name="Shape 12"/>
          <p:cNvSpPr/>
          <p:nvPr/>
        </p:nvSpPr>
        <p:spPr>
          <a:xfrm>
            <a:off x="4526280" y="3029158"/>
            <a:ext cx="1005840" cy="2548682"/>
          </a:xfrm>
          <a:prstGeom prst="roundRect">
            <a:avLst>
              <a:gd name="adj" fmla="val 3636"/>
            </a:avLst>
          </a:prstGeom>
          <a:solidFill>
            <a:srgbClr val="E8672F"/>
          </a:solidFill>
          <a:ln/>
        </p:spPr>
      </p:sp>
      <p:sp>
        <p:nvSpPr>
          <p:cNvPr id="15" name="Text 13"/>
          <p:cNvSpPr txBox="1"/>
          <p:nvPr/>
        </p:nvSpPr>
        <p:spPr>
          <a:xfrm>
            <a:off x="4389120" y="5650992"/>
            <a:ext cx="1280160" cy="320040"/>
          </a:xfrm>
          <a:prstGeom prst="rect">
            <a:avLst/>
          </a:prstGeom>
          <a:noFill/>
          <a:ln/>
        </p:spPr>
        <p:txBody>
          <a:bodyPr wrap="square" lIns="0" tIns="0" rIns="0" bIns="0" rtlCol="0" anchor="ctr"/>
          <a:lstStyle/>
          <a:p>
            <a:pPr algn="ctr" indent="0" marL="0">
              <a:buNone/>
            </a:pPr>
            <a:r>
              <a:rPr lang="en-US" sz="1200" b="1" dirty="0">
                <a:solidFill>
                  <a:srgbClr val="1C2028"/>
                </a:solidFill>
              </a:rPr>
              <a:t>Largest 25%</a:t>
            </a:r>
            <a:endParaRPr lang="en-US" sz="1200" dirty="0"/>
          </a:p>
        </p:txBody>
      </p:sp>
      <p:sp>
        <p:nvSpPr>
          <p:cNvPr id="16" name="Text 14"/>
          <p:cNvSpPr txBox="1"/>
          <p:nvPr/>
        </p:nvSpPr>
        <p:spPr>
          <a:xfrm>
            <a:off x="6583680" y="2103120"/>
            <a:ext cx="5029200" cy="914400"/>
          </a:xfrm>
          <a:prstGeom prst="rect">
            <a:avLst/>
          </a:prstGeom>
          <a:noFill/>
          <a:ln/>
        </p:spPr>
        <p:txBody>
          <a:bodyPr wrap="square" lIns="0" tIns="0" rIns="0" bIns="0" rtlCol="0" anchor="ctr"/>
          <a:lstStyle/>
          <a:p>
            <a:pPr indent="0" marL="0">
              <a:buNone/>
            </a:pPr>
            <a:r>
              <a:rPr lang="en-US" sz="4800" b="1" dirty="0">
                <a:solidFill>
                  <a:srgbClr val="E8672F"/>
                </a:solidFill>
              </a:rPr>
              <a:t>+17.6 pp</a:t>
            </a:r>
            <a:endParaRPr lang="en-US" sz="4800" dirty="0"/>
          </a:p>
        </p:txBody>
      </p:sp>
      <p:sp>
        <p:nvSpPr>
          <p:cNvPr id="17" name="Text 15"/>
          <p:cNvSpPr txBox="1"/>
          <p:nvPr/>
        </p:nvSpPr>
        <p:spPr>
          <a:xfrm>
            <a:off x="6583680" y="3017520"/>
            <a:ext cx="5029200" cy="1280160"/>
          </a:xfrm>
          <a:prstGeom prst="rect">
            <a:avLst/>
          </a:prstGeom>
          <a:noFill/>
          <a:ln/>
        </p:spPr>
        <p:txBody>
          <a:bodyPr wrap="square" lIns="0" tIns="0" rIns="0" bIns="0" rtlCol="0" anchor="ctr"/>
          <a:lstStyle/>
          <a:p>
            <a:pPr indent="0" marL="0">
              <a:lnSpc>
                <a:spcPct val="130000"/>
              </a:lnSpc>
              <a:buNone/>
            </a:pPr>
            <a:r>
              <a:rPr lang="en-US" sz="1350" dirty="0">
                <a:solidFill>
                  <a:srgbClr val="5D6470"/>
                </a:solidFill>
              </a:rPr>
              <a:t>OEE gap between the smallest and largest quarter of orders. Speed is flat; fixed setup and cleaning time gets spread over more units.</a:t>
            </a:r>
            <a:endParaRPr lang="en-US" sz="1350" dirty="0"/>
          </a:p>
        </p:txBody>
      </p:sp>
      <p:sp>
        <p:nvSpPr>
          <p:cNvPr id="18" name="Text 16"/>
          <p:cNvSpPr txBox="1"/>
          <p:nvPr/>
        </p:nvSpPr>
        <p:spPr>
          <a:xfrm>
            <a:off x="6583680" y="4343400"/>
            <a:ext cx="5029200" cy="457200"/>
          </a:xfrm>
          <a:prstGeom prst="rect">
            <a:avLst/>
          </a:prstGeom>
          <a:noFill/>
          <a:ln/>
        </p:spPr>
        <p:txBody>
          <a:bodyPr wrap="square" lIns="0" tIns="0" rIns="0" bIns="0" rtlCol="0" anchor="ctr"/>
          <a:lstStyle/>
          <a:p>
            <a:pPr indent="0" marL="0">
              <a:buNone/>
            </a:pPr>
            <a:r>
              <a:rPr lang="en-US" sz="1400" b="1" dirty="0">
                <a:solidFill>
                  <a:srgbClr val="1C2028"/>
                </a:solidFill>
              </a:rPr>
              <a:t>Lever: batch small repeat orders.</a:t>
            </a:r>
            <a:endParaRPr lang="en-US" sz="1400" dirty="0"/>
          </a:p>
        </p:txBody>
      </p:sp>
      <p:sp>
        <p:nvSpPr>
          <p:cNvPr id="19" name="Text 17"/>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20" name="Text 18"/>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07 /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3, DOWNTIME</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Lines stop for changeovers, not breakdowns</a:t>
            </a:r>
            <a:endParaRPr lang="en-US" sz="3200" dirty="0"/>
          </a:p>
        </p:txBody>
      </p:sp>
      <p:sp>
        <p:nvSpPr>
          <p:cNvPr id="4" name="Text 2"/>
          <p:cNvSpPr txBox="1"/>
          <p:nvPr/>
        </p:nvSpPr>
        <p:spPr>
          <a:xfrm>
            <a:off x="548640" y="1920240"/>
            <a:ext cx="1188720" cy="411480"/>
          </a:xfrm>
          <a:prstGeom prst="rect">
            <a:avLst/>
          </a:prstGeom>
          <a:noFill/>
          <a:ln/>
        </p:spPr>
        <p:txBody>
          <a:bodyPr wrap="square" lIns="0" tIns="0" rIns="0" bIns="0" rtlCol="0" anchor="ctr"/>
          <a:lstStyle/>
          <a:p>
            <a:pPr indent="0" marL="0">
              <a:buNone/>
            </a:pPr>
            <a:r>
              <a:rPr lang="en-US" sz="1600" b="1" dirty="0">
                <a:solidFill>
                  <a:srgbClr val="1C2028"/>
                </a:solidFill>
              </a:rPr>
              <a:t>AXO12</a:t>
            </a:r>
            <a:endParaRPr lang="en-US" sz="1600" dirty="0"/>
          </a:p>
        </p:txBody>
      </p:sp>
      <p:sp>
        <p:nvSpPr>
          <p:cNvPr id="5" name="Shape 3"/>
          <p:cNvSpPr/>
          <p:nvPr/>
        </p:nvSpPr>
        <p:spPr>
          <a:xfrm>
            <a:off x="1828800" y="1920240"/>
            <a:ext cx="6748272" cy="384048"/>
          </a:xfrm>
          <a:prstGeom prst="rect">
            <a:avLst/>
          </a:prstGeom>
          <a:solidFill>
            <a:srgbClr val="E8672F"/>
          </a:solidFill>
          <a:ln/>
        </p:spPr>
      </p:sp>
      <p:sp>
        <p:nvSpPr>
          <p:cNvPr id="6" name="Text 4"/>
          <p:cNvSpPr txBox="1"/>
          <p:nvPr/>
        </p:nvSpPr>
        <p:spPr>
          <a:xfrm>
            <a:off x="1828800" y="1920240"/>
            <a:ext cx="6748272" cy="384048"/>
          </a:xfrm>
          <a:prstGeom prst="rect">
            <a:avLst/>
          </a:prstGeom>
          <a:noFill/>
          <a:ln/>
        </p:spPr>
        <p:txBody>
          <a:bodyPr wrap="square" lIns="0" tIns="0" rIns="0" bIns="0" rtlCol="0" anchor="ctr"/>
          <a:lstStyle/>
          <a:p>
            <a:pPr algn="ctr" indent="0" marL="0">
              <a:buNone/>
            </a:pPr>
            <a:r>
              <a:rPr lang="en-US" sz="1200" b="1" dirty="0">
                <a:solidFill>
                  <a:srgbClr val="FFFFFF"/>
                </a:solidFill>
              </a:rPr>
              <a:t>82%</a:t>
            </a:r>
            <a:endParaRPr lang="en-US" sz="1200" dirty="0"/>
          </a:p>
        </p:txBody>
      </p:sp>
      <p:sp>
        <p:nvSpPr>
          <p:cNvPr id="7" name="Shape 5"/>
          <p:cNvSpPr/>
          <p:nvPr/>
        </p:nvSpPr>
        <p:spPr>
          <a:xfrm>
            <a:off x="8577072" y="1920240"/>
            <a:ext cx="1481328" cy="384048"/>
          </a:xfrm>
          <a:prstGeom prst="rect">
            <a:avLst/>
          </a:prstGeom>
          <a:solidFill>
            <a:srgbClr val="3D4452"/>
          </a:solidFill>
          <a:ln/>
        </p:spPr>
      </p:sp>
      <p:sp>
        <p:nvSpPr>
          <p:cNvPr id="8" name="Text 6"/>
          <p:cNvSpPr txBox="1"/>
          <p:nvPr/>
        </p:nvSpPr>
        <p:spPr>
          <a:xfrm>
            <a:off x="8577072" y="1920240"/>
            <a:ext cx="1481328" cy="384048"/>
          </a:xfrm>
          <a:prstGeom prst="rect">
            <a:avLst/>
          </a:prstGeom>
          <a:noFill/>
          <a:ln/>
        </p:spPr>
        <p:txBody>
          <a:bodyPr wrap="square" lIns="0" tIns="0" rIns="0" bIns="0" rtlCol="0" anchor="ctr"/>
          <a:lstStyle/>
          <a:p>
            <a:pPr algn="ctr" indent="0" marL="0">
              <a:buNone/>
            </a:pPr>
            <a:r>
              <a:rPr lang="en-US" sz="1200" b="1" dirty="0">
                <a:solidFill>
                  <a:srgbClr val="FFFFFF"/>
                </a:solidFill>
              </a:rPr>
              <a:t>18%</a:t>
            </a:r>
            <a:endParaRPr lang="en-US" sz="1200" dirty="0"/>
          </a:p>
        </p:txBody>
      </p:sp>
      <p:sp>
        <p:nvSpPr>
          <p:cNvPr id="9" name="Text 7"/>
          <p:cNvSpPr txBox="1"/>
          <p:nvPr/>
        </p:nvSpPr>
        <p:spPr>
          <a:xfrm>
            <a:off x="548640" y="2487168"/>
            <a:ext cx="1188720" cy="411480"/>
          </a:xfrm>
          <a:prstGeom prst="rect">
            <a:avLst/>
          </a:prstGeom>
          <a:noFill/>
          <a:ln/>
        </p:spPr>
        <p:txBody>
          <a:bodyPr wrap="square" lIns="0" tIns="0" rIns="0" bIns="0" rtlCol="0" anchor="ctr"/>
          <a:lstStyle/>
          <a:p>
            <a:pPr indent="0" marL="0">
              <a:buNone/>
            </a:pPr>
            <a:r>
              <a:rPr lang="en-US" sz="1600" b="1" dirty="0">
                <a:solidFill>
                  <a:srgbClr val="1C2028"/>
                </a:solidFill>
              </a:rPr>
              <a:t>AXO11</a:t>
            </a:r>
            <a:endParaRPr lang="en-US" sz="1600" dirty="0"/>
          </a:p>
        </p:txBody>
      </p:sp>
      <p:sp>
        <p:nvSpPr>
          <p:cNvPr id="10" name="Shape 8"/>
          <p:cNvSpPr/>
          <p:nvPr/>
        </p:nvSpPr>
        <p:spPr>
          <a:xfrm>
            <a:off x="1828800" y="2487168"/>
            <a:ext cx="6419088" cy="384048"/>
          </a:xfrm>
          <a:prstGeom prst="rect">
            <a:avLst/>
          </a:prstGeom>
          <a:solidFill>
            <a:srgbClr val="E8672F"/>
          </a:solidFill>
          <a:ln/>
        </p:spPr>
      </p:sp>
      <p:sp>
        <p:nvSpPr>
          <p:cNvPr id="11" name="Text 9"/>
          <p:cNvSpPr txBox="1"/>
          <p:nvPr/>
        </p:nvSpPr>
        <p:spPr>
          <a:xfrm>
            <a:off x="1828800" y="2487168"/>
            <a:ext cx="6419088" cy="384048"/>
          </a:xfrm>
          <a:prstGeom prst="rect">
            <a:avLst/>
          </a:prstGeom>
          <a:noFill/>
          <a:ln/>
        </p:spPr>
        <p:txBody>
          <a:bodyPr wrap="square" lIns="0" tIns="0" rIns="0" bIns="0" rtlCol="0" anchor="ctr"/>
          <a:lstStyle/>
          <a:p>
            <a:pPr algn="ctr" indent="0" marL="0">
              <a:buNone/>
            </a:pPr>
            <a:r>
              <a:rPr lang="en-US" sz="1200" b="1" dirty="0">
                <a:solidFill>
                  <a:srgbClr val="FFFFFF"/>
                </a:solidFill>
              </a:rPr>
              <a:t>78%</a:t>
            </a:r>
            <a:endParaRPr lang="en-US" sz="1200" dirty="0"/>
          </a:p>
        </p:txBody>
      </p:sp>
      <p:sp>
        <p:nvSpPr>
          <p:cNvPr id="12" name="Shape 10"/>
          <p:cNvSpPr/>
          <p:nvPr/>
        </p:nvSpPr>
        <p:spPr>
          <a:xfrm>
            <a:off x="8247888" y="2487168"/>
            <a:ext cx="1810512" cy="384048"/>
          </a:xfrm>
          <a:prstGeom prst="rect">
            <a:avLst/>
          </a:prstGeom>
          <a:solidFill>
            <a:srgbClr val="3D4452"/>
          </a:solidFill>
          <a:ln/>
        </p:spPr>
      </p:sp>
      <p:sp>
        <p:nvSpPr>
          <p:cNvPr id="13" name="Text 11"/>
          <p:cNvSpPr txBox="1"/>
          <p:nvPr/>
        </p:nvSpPr>
        <p:spPr>
          <a:xfrm>
            <a:off x="8247888" y="2487168"/>
            <a:ext cx="1810512" cy="384048"/>
          </a:xfrm>
          <a:prstGeom prst="rect">
            <a:avLst/>
          </a:prstGeom>
          <a:noFill/>
          <a:ln/>
        </p:spPr>
        <p:txBody>
          <a:bodyPr wrap="square" lIns="0" tIns="0" rIns="0" bIns="0" rtlCol="0" anchor="ctr"/>
          <a:lstStyle/>
          <a:p>
            <a:pPr algn="ctr" indent="0" marL="0">
              <a:buNone/>
            </a:pPr>
            <a:r>
              <a:rPr lang="en-US" sz="1200" b="1" dirty="0">
                <a:solidFill>
                  <a:srgbClr val="FFFFFF"/>
                </a:solidFill>
              </a:rPr>
              <a:t>22%</a:t>
            </a:r>
            <a:endParaRPr lang="en-US" sz="1200" dirty="0"/>
          </a:p>
        </p:txBody>
      </p:sp>
      <p:sp>
        <p:nvSpPr>
          <p:cNvPr id="14" name="Text 12"/>
          <p:cNvSpPr txBox="1"/>
          <p:nvPr/>
        </p:nvSpPr>
        <p:spPr>
          <a:xfrm>
            <a:off x="548640" y="3054096"/>
            <a:ext cx="1188720" cy="411480"/>
          </a:xfrm>
          <a:prstGeom prst="rect">
            <a:avLst/>
          </a:prstGeom>
          <a:noFill/>
          <a:ln/>
        </p:spPr>
        <p:txBody>
          <a:bodyPr wrap="square" lIns="0" tIns="0" rIns="0" bIns="0" rtlCol="0" anchor="ctr"/>
          <a:lstStyle/>
          <a:p>
            <a:pPr indent="0" marL="0">
              <a:buNone/>
            </a:pPr>
            <a:r>
              <a:rPr lang="en-US" sz="1600" b="1" dirty="0">
                <a:solidFill>
                  <a:srgbClr val="1C2028"/>
                </a:solidFill>
              </a:rPr>
              <a:t>AXO10</a:t>
            </a:r>
            <a:endParaRPr lang="en-US" sz="1600" dirty="0"/>
          </a:p>
        </p:txBody>
      </p:sp>
      <p:sp>
        <p:nvSpPr>
          <p:cNvPr id="15" name="Shape 13"/>
          <p:cNvSpPr/>
          <p:nvPr/>
        </p:nvSpPr>
        <p:spPr>
          <a:xfrm>
            <a:off x="1828800" y="3054096"/>
            <a:ext cx="6336792" cy="384048"/>
          </a:xfrm>
          <a:prstGeom prst="rect">
            <a:avLst/>
          </a:prstGeom>
          <a:solidFill>
            <a:srgbClr val="E8672F"/>
          </a:solidFill>
          <a:ln/>
        </p:spPr>
      </p:sp>
      <p:sp>
        <p:nvSpPr>
          <p:cNvPr id="16" name="Text 14"/>
          <p:cNvSpPr txBox="1"/>
          <p:nvPr/>
        </p:nvSpPr>
        <p:spPr>
          <a:xfrm>
            <a:off x="1828800" y="3054096"/>
            <a:ext cx="6336792" cy="384048"/>
          </a:xfrm>
          <a:prstGeom prst="rect">
            <a:avLst/>
          </a:prstGeom>
          <a:noFill/>
          <a:ln/>
        </p:spPr>
        <p:txBody>
          <a:bodyPr wrap="square" lIns="0" tIns="0" rIns="0" bIns="0" rtlCol="0" anchor="ctr"/>
          <a:lstStyle/>
          <a:p>
            <a:pPr algn="ctr" indent="0" marL="0">
              <a:buNone/>
            </a:pPr>
            <a:r>
              <a:rPr lang="en-US" sz="1200" b="1" dirty="0">
                <a:solidFill>
                  <a:srgbClr val="FFFFFF"/>
                </a:solidFill>
              </a:rPr>
              <a:t>77%</a:t>
            </a:r>
            <a:endParaRPr lang="en-US" sz="1200" dirty="0"/>
          </a:p>
        </p:txBody>
      </p:sp>
      <p:sp>
        <p:nvSpPr>
          <p:cNvPr id="17" name="Shape 15"/>
          <p:cNvSpPr/>
          <p:nvPr/>
        </p:nvSpPr>
        <p:spPr>
          <a:xfrm>
            <a:off x="8165592" y="3054096"/>
            <a:ext cx="1892808" cy="384048"/>
          </a:xfrm>
          <a:prstGeom prst="rect">
            <a:avLst/>
          </a:prstGeom>
          <a:solidFill>
            <a:srgbClr val="3D4452"/>
          </a:solidFill>
          <a:ln/>
        </p:spPr>
      </p:sp>
      <p:sp>
        <p:nvSpPr>
          <p:cNvPr id="18" name="Text 16"/>
          <p:cNvSpPr txBox="1"/>
          <p:nvPr/>
        </p:nvSpPr>
        <p:spPr>
          <a:xfrm>
            <a:off x="8165592" y="3054096"/>
            <a:ext cx="1892808" cy="384048"/>
          </a:xfrm>
          <a:prstGeom prst="rect">
            <a:avLst/>
          </a:prstGeom>
          <a:noFill/>
          <a:ln/>
        </p:spPr>
        <p:txBody>
          <a:bodyPr wrap="square" lIns="0" tIns="0" rIns="0" bIns="0" rtlCol="0" anchor="ctr"/>
          <a:lstStyle/>
          <a:p>
            <a:pPr algn="ctr" indent="0" marL="0">
              <a:buNone/>
            </a:pPr>
            <a:r>
              <a:rPr lang="en-US" sz="1200" b="1" dirty="0">
                <a:solidFill>
                  <a:srgbClr val="FFFFFF"/>
                </a:solidFill>
              </a:rPr>
              <a:t>23%</a:t>
            </a:r>
            <a:endParaRPr lang="en-US" sz="1200" dirty="0"/>
          </a:p>
        </p:txBody>
      </p:sp>
      <p:sp>
        <p:nvSpPr>
          <p:cNvPr id="19" name="Text 17"/>
          <p:cNvSpPr txBox="1"/>
          <p:nvPr/>
        </p:nvSpPr>
        <p:spPr>
          <a:xfrm>
            <a:off x="548640" y="3621024"/>
            <a:ext cx="1188720" cy="411480"/>
          </a:xfrm>
          <a:prstGeom prst="rect">
            <a:avLst/>
          </a:prstGeom>
          <a:noFill/>
          <a:ln/>
        </p:spPr>
        <p:txBody>
          <a:bodyPr wrap="square" lIns="0" tIns="0" rIns="0" bIns="0" rtlCol="0" anchor="ctr"/>
          <a:lstStyle/>
          <a:p>
            <a:pPr indent="0" marL="0">
              <a:buNone/>
            </a:pPr>
            <a:r>
              <a:rPr lang="en-US" sz="1600" b="1" dirty="0">
                <a:solidFill>
                  <a:srgbClr val="1C2028"/>
                </a:solidFill>
              </a:rPr>
              <a:t>KM2</a:t>
            </a:r>
            <a:endParaRPr lang="en-US" sz="1600" dirty="0"/>
          </a:p>
        </p:txBody>
      </p:sp>
      <p:sp>
        <p:nvSpPr>
          <p:cNvPr id="20" name="Shape 18"/>
          <p:cNvSpPr/>
          <p:nvPr/>
        </p:nvSpPr>
        <p:spPr>
          <a:xfrm>
            <a:off x="1828800" y="3621024"/>
            <a:ext cx="4690872" cy="384048"/>
          </a:xfrm>
          <a:prstGeom prst="rect">
            <a:avLst/>
          </a:prstGeom>
          <a:solidFill>
            <a:srgbClr val="E8672F"/>
          </a:solidFill>
          <a:ln/>
        </p:spPr>
      </p:sp>
      <p:sp>
        <p:nvSpPr>
          <p:cNvPr id="21" name="Text 19"/>
          <p:cNvSpPr txBox="1"/>
          <p:nvPr/>
        </p:nvSpPr>
        <p:spPr>
          <a:xfrm>
            <a:off x="1828800" y="3621024"/>
            <a:ext cx="4690872" cy="384048"/>
          </a:xfrm>
          <a:prstGeom prst="rect">
            <a:avLst/>
          </a:prstGeom>
          <a:noFill/>
          <a:ln/>
        </p:spPr>
        <p:txBody>
          <a:bodyPr wrap="square" lIns="0" tIns="0" rIns="0" bIns="0" rtlCol="0" anchor="ctr"/>
          <a:lstStyle/>
          <a:p>
            <a:pPr algn="ctr" indent="0" marL="0">
              <a:buNone/>
            </a:pPr>
            <a:r>
              <a:rPr lang="en-US" sz="1200" b="1" dirty="0">
                <a:solidFill>
                  <a:srgbClr val="FFFFFF"/>
                </a:solidFill>
              </a:rPr>
              <a:t>57%</a:t>
            </a:r>
            <a:endParaRPr lang="en-US" sz="1200" dirty="0"/>
          </a:p>
        </p:txBody>
      </p:sp>
      <p:sp>
        <p:nvSpPr>
          <p:cNvPr id="22" name="Shape 20"/>
          <p:cNvSpPr/>
          <p:nvPr/>
        </p:nvSpPr>
        <p:spPr>
          <a:xfrm>
            <a:off x="6519672" y="3621024"/>
            <a:ext cx="3538728" cy="384048"/>
          </a:xfrm>
          <a:prstGeom prst="rect">
            <a:avLst/>
          </a:prstGeom>
          <a:solidFill>
            <a:srgbClr val="3D4452"/>
          </a:solidFill>
          <a:ln/>
        </p:spPr>
      </p:sp>
      <p:sp>
        <p:nvSpPr>
          <p:cNvPr id="23" name="Text 21"/>
          <p:cNvSpPr txBox="1"/>
          <p:nvPr/>
        </p:nvSpPr>
        <p:spPr>
          <a:xfrm>
            <a:off x="6519672" y="3621024"/>
            <a:ext cx="3538728" cy="384048"/>
          </a:xfrm>
          <a:prstGeom prst="rect">
            <a:avLst/>
          </a:prstGeom>
          <a:noFill/>
          <a:ln/>
        </p:spPr>
        <p:txBody>
          <a:bodyPr wrap="square" lIns="0" tIns="0" rIns="0" bIns="0" rtlCol="0" anchor="ctr"/>
          <a:lstStyle/>
          <a:p>
            <a:pPr algn="ctr" indent="0" marL="0">
              <a:buNone/>
            </a:pPr>
            <a:r>
              <a:rPr lang="en-US" sz="1200" b="1" dirty="0">
                <a:solidFill>
                  <a:srgbClr val="FFFFFF"/>
                </a:solidFill>
              </a:rPr>
              <a:t>43%</a:t>
            </a:r>
            <a:endParaRPr lang="en-US" sz="1200" dirty="0"/>
          </a:p>
        </p:txBody>
      </p:sp>
      <p:sp>
        <p:nvSpPr>
          <p:cNvPr id="24" name="Text 22"/>
          <p:cNvSpPr txBox="1"/>
          <p:nvPr/>
        </p:nvSpPr>
        <p:spPr>
          <a:xfrm>
            <a:off x="548640" y="4187952"/>
            <a:ext cx="1188720" cy="411480"/>
          </a:xfrm>
          <a:prstGeom prst="rect">
            <a:avLst/>
          </a:prstGeom>
          <a:noFill/>
          <a:ln/>
        </p:spPr>
        <p:txBody>
          <a:bodyPr wrap="square" lIns="0" tIns="0" rIns="0" bIns="0" rtlCol="0" anchor="ctr"/>
          <a:lstStyle/>
          <a:p>
            <a:pPr indent="0" marL="0">
              <a:buNone/>
            </a:pPr>
            <a:r>
              <a:rPr lang="en-US" sz="1600" b="1" dirty="0">
                <a:solidFill>
                  <a:srgbClr val="1C2028"/>
                </a:solidFill>
              </a:rPr>
              <a:t>KM1</a:t>
            </a:r>
            <a:endParaRPr lang="en-US" sz="1600" dirty="0"/>
          </a:p>
        </p:txBody>
      </p:sp>
      <p:sp>
        <p:nvSpPr>
          <p:cNvPr id="25" name="Shape 23"/>
          <p:cNvSpPr/>
          <p:nvPr/>
        </p:nvSpPr>
        <p:spPr>
          <a:xfrm>
            <a:off x="1828800" y="4187952"/>
            <a:ext cx="3374136" cy="384048"/>
          </a:xfrm>
          <a:prstGeom prst="rect">
            <a:avLst/>
          </a:prstGeom>
          <a:solidFill>
            <a:srgbClr val="E8672F"/>
          </a:solidFill>
          <a:ln/>
        </p:spPr>
      </p:sp>
      <p:sp>
        <p:nvSpPr>
          <p:cNvPr id="26" name="Text 24"/>
          <p:cNvSpPr txBox="1"/>
          <p:nvPr/>
        </p:nvSpPr>
        <p:spPr>
          <a:xfrm>
            <a:off x="1828800" y="4187952"/>
            <a:ext cx="3374136" cy="384048"/>
          </a:xfrm>
          <a:prstGeom prst="rect">
            <a:avLst/>
          </a:prstGeom>
          <a:noFill/>
          <a:ln/>
        </p:spPr>
        <p:txBody>
          <a:bodyPr wrap="square" lIns="0" tIns="0" rIns="0" bIns="0" rtlCol="0" anchor="ctr"/>
          <a:lstStyle/>
          <a:p>
            <a:pPr algn="ctr" indent="0" marL="0">
              <a:buNone/>
            </a:pPr>
            <a:r>
              <a:rPr lang="en-US" sz="1200" b="1" dirty="0">
                <a:solidFill>
                  <a:srgbClr val="FFFFFF"/>
                </a:solidFill>
              </a:rPr>
              <a:t>41%</a:t>
            </a:r>
            <a:endParaRPr lang="en-US" sz="1200" dirty="0"/>
          </a:p>
        </p:txBody>
      </p:sp>
      <p:sp>
        <p:nvSpPr>
          <p:cNvPr id="27" name="Shape 25"/>
          <p:cNvSpPr/>
          <p:nvPr/>
        </p:nvSpPr>
        <p:spPr>
          <a:xfrm>
            <a:off x="5202936" y="4187952"/>
            <a:ext cx="4855464" cy="384048"/>
          </a:xfrm>
          <a:prstGeom prst="rect">
            <a:avLst/>
          </a:prstGeom>
          <a:solidFill>
            <a:srgbClr val="3D4452"/>
          </a:solidFill>
          <a:ln/>
        </p:spPr>
      </p:sp>
      <p:sp>
        <p:nvSpPr>
          <p:cNvPr id="28" name="Text 26"/>
          <p:cNvSpPr txBox="1"/>
          <p:nvPr/>
        </p:nvSpPr>
        <p:spPr>
          <a:xfrm>
            <a:off x="5202936" y="4187952"/>
            <a:ext cx="4855464" cy="384048"/>
          </a:xfrm>
          <a:prstGeom prst="rect">
            <a:avLst/>
          </a:prstGeom>
          <a:noFill/>
          <a:ln/>
        </p:spPr>
        <p:txBody>
          <a:bodyPr wrap="square" lIns="0" tIns="0" rIns="0" bIns="0" rtlCol="0" anchor="ctr"/>
          <a:lstStyle/>
          <a:p>
            <a:pPr algn="ctr" indent="0" marL="0">
              <a:buNone/>
            </a:pPr>
            <a:r>
              <a:rPr lang="en-US" sz="1200" b="1" dirty="0">
                <a:solidFill>
                  <a:srgbClr val="FFFFFF"/>
                </a:solidFill>
              </a:rPr>
              <a:t>59%</a:t>
            </a:r>
            <a:endParaRPr lang="en-US" sz="1200" dirty="0"/>
          </a:p>
        </p:txBody>
      </p:sp>
      <p:sp>
        <p:nvSpPr>
          <p:cNvPr id="29" name="Shape 27"/>
          <p:cNvSpPr/>
          <p:nvPr/>
        </p:nvSpPr>
        <p:spPr>
          <a:xfrm>
            <a:off x="548640" y="4892040"/>
            <a:ext cx="182880" cy="182880"/>
          </a:xfrm>
          <a:prstGeom prst="rect">
            <a:avLst/>
          </a:prstGeom>
          <a:solidFill>
            <a:srgbClr val="E8672F"/>
          </a:solidFill>
          <a:ln/>
        </p:spPr>
      </p:sp>
      <p:sp>
        <p:nvSpPr>
          <p:cNvPr id="30" name="Text 28"/>
          <p:cNvSpPr txBox="1"/>
          <p:nvPr/>
        </p:nvSpPr>
        <p:spPr>
          <a:xfrm>
            <a:off x="804672" y="4846320"/>
            <a:ext cx="3931920" cy="274320"/>
          </a:xfrm>
          <a:prstGeom prst="rect">
            <a:avLst/>
          </a:prstGeom>
          <a:noFill/>
          <a:ln/>
        </p:spPr>
        <p:txBody>
          <a:bodyPr wrap="square" lIns="0" tIns="0" rIns="0" bIns="0" rtlCol="0" anchor="ctr"/>
          <a:lstStyle/>
          <a:p>
            <a:pPr indent="0" marL="0">
              <a:buNone/>
            </a:pPr>
            <a:r>
              <a:rPr lang="en-US" sz="1150" dirty="0">
                <a:solidFill>
                  <a:srgbClr val="5D6470"/>
                </a:solidFill>
              </a:rPr>
              <a:t>Organisational: changeover, cleaning, breaks</a:t>
            </a:r>
            <a:endParaRPr lang="en-US" sz="1150" dirty="0"/>
          </a:p>
        </p:txBody>
      </p:sp>
      <p:sp>
        <p:nvSpPr>
          <p:cNvPr id="31" name="Shape 29"/>
          <p:cNvSpPr/>
          <p:nvPr/>
        </p:nvSpPr>
        <p:spPr>
          <a:xfrm>
            <a:off x="4937760" y="4892040"/>
            <a:ext cx="182880" cy="182880"/>
          </a:xfrm>
          <a:prstGeom prst="rect">
            <a:avLst/>
          </a:prstGeom>
          <a:solidFill>
            <a:srgbClr val="3D4452"/>
          </a:solidFill>
          <a:ln/>
        </p:spPr>
      </p:sp>
      <p:sp>
        <p:nvSpPr>
          <p:cNvPr id="32" name="Text 30"/>
          <p:cNvSpPr txBox="1"/>
          <p:nvPr/>
        </p:nvSpPr>
        <p:spPr>
          <a:xfrm>
            <a:off x="5193792" y="4846320"/>
            <a:ext cx="3200400" cy="274320"/>
          </a:xfrm>
          <a:prstGeom prst="rect">
            <a:avLst/>
          </a:prstGeom>
          <a:noFill/>
          <a:ln/>
        </p:spPr>
        <p:txBody>
          <a:bodyPr wrap="square" lIns="0" tIns="0" rIns="0" bIns="0" rtlCol="0" anchor="ctr"/>
          <a:lstStyle/>
          <a:p>
            <a:pPr indent="0" marL="0">
              <a:buNone/>
            </a:pPr>
            <a:r>
              <a:rPr lang="en-US" sz="1150" dirty="0">
                <a:solidFill>
                  <a:srgbClr val="5D6470"/>
                </a:solidFill>
              </a:rPr>
              <a:t>Technical: faults, maintenance</a:t>
            </a:r>
            <a:endParaRPr lang="en-US" sz="1150" dirty="0"/>
          </a:p>
        </p:txBody>
      </p:sp>
      <p:sp>
        <p:nvSpPr>
          <p:cNvPr id="33" name="Text 31"/>
          <p:cNvSpPr txBox="1"/>
          <p:nvPr/>
        </p:nvSpPr>
        <p:spPr>
          <a:xfrm>
            <a:off x="548640" y="5394960"/>
            <a:ext cx="10789920" cy="731520"/>
          </a:xfrm>
          <a:prstGeom prst="rect">
            <a:avLst/>
          </a:prstGeom>
          <a:noFill/>
          <a:ln/>
        </p:spPr>
        <p:txBody>
          <a:bodyPr wrap="square" lIns="0" tIns="0" rIns="0" bIns="0" rtlCol="0" anchor="ctr"/>
          <a:lstStyle/>
          <a:p>
            <a:pPr indent="0" marL="0">
              <a:lnSpc>
                <a:spcPct val="130000"/>
              </a:lnSpc>
              <a:buNone/>
            </a:pPr>
            <a:r>
              <a:rPr lang="en-US" sz="1400" dirty="0">
                <a:solidFill>
                  <a:srgbClr val="1C2028"/>
                </a:solidFill>
              </a:rPr>
              <a:t>Setup and cleaning is the top stoppage reason on every line. KM1 is the exception, where labeller and carton-folder faults lead.</a:t>
            </a:r>
            <a:endParaRPr lang="en-US" sz="1400" dirty="0"/>
          </a:p>
        </p:txBody>
      </p:sp>
      <p:sp>
        <p:nvSpPr>
          <p:cNvPr id="34" name="Text 32"/>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35" name="Text 33"/>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08 /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4, DATA TRUST</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Can the plant trust its own records? Mostly.</a:t>
            </a:r>
            <a:endParaRPr lang="en-US" sz="3200" dirty="0"/>
          </a:p>
        </p:txBody>
      </p:sp>
      <p:sp>
        <p:nvSpPr>
          <p:cNvPr id="4" name="Text 2"/>
          <p:cNvSpPr txBox="1"/>
          <p:nvPr/>
        </p:nvSpPr>
        <p:spPr>
          <a:xfrm>
            <a:off x="548640" y="2011680"/>
            <a:ext cx="4754880" cy="1371600"/>
          </a:xfrm>
          <a:prstGeom prst="rect">
            <a:avLst/>
          </a:prstGeom>
          <a:noFill/>
          <a:ln/>
        </p:spPr>
        <p:txBody>
          <a:bodyPr wrap="square" lIns="0" tIns="0" rIns="0" bIns="0" rtlCol="0" anchor="ctr"/>
          <a:lstStyle/>
          <a:p>
            <a:pPr indent="0" marL="0">
              <a:buNone/>
            </a:pPr>
            <a:r>
              <a:rPr lang="en-US" sz="6800" b="1" dirty="0">
                <a:solidFill>
                  <a:srgbClr val="3B7DD8"/>
                </a:solidFill>
              </a:rPr>
              <a:t>0.65%</a:t>
            </a:r>
            <a:endParaRPr lang="en-US" sz="6800" dirty="0"/>
          </a:p>
        </p:txBody>
      </p:sp>
      <p:sp>
        <p:nvSpPr>
          <p:cNvPr id="5" name="Text 3"/>
          <p:cNvSpPr txBox="1"/>
          <p:nvPr/>
        </p:nvSpPr>
        <p:spPr>
          <a:xfrm>
            <a:off x="548640" y="3337560"/>
            <a:ext cx="4754880" cy="1188720"/>
          </a:xfrm>
          <a:prstGeom prst="rect">
            <a:avLst/>
          </a:prstGeom>
          <a:noFill/>
          <a:ln/>
        </p:spPr>
        <p:txBody>
          <a:bodyPr wrap="square" lIns="0" tIns="0" rIns="0" bIns="0" rtlCol="0" anchor="ctr"/>
          <a:lstStyle/>
          <a:p>
            <a:pPr indent="0" marL="0">
              <a:lnSpc>
                <a:spcPct val="130000"/>
              </a:lnSpc>
              <a:buNone/>
            </a:pPr>
            <a:r>
              <a:rPr lang="en-US" sz="1450" dirty="0">
                <a:solidFill>
                  <a:srgbClr val="5D6470"/>
                </a:solidFill>
              </a:rPr>
              <a:t>median quantity gap between MES and the hand-kept Excel log. 90% of 263 shared orders agree within +/-10%.</a:t>
            </a:r>
            <a:endParaRPr lang="en-US" sz="1450" dirty="0"/>
          </a:p>
        </p:txBody>
      </p:sp>
      <p:sp>
        <p:nvSpPr>
          <p:cNvPr id="6" name="Shape 4"/>
          <p:cNvSpPr/>
          <p:nvPr/>
        </p:nvSpPr>
        <p:spPr>
          <a:xfrm>
            <a:off x="5760720" y="1828800"/>
            <a:ext cx="5852160" cy="1325880"/>
          </a:xfrm>
          <a:prstGeom prst="roundRect">
            <a:avLst>
              <a:gd name="adj" fmla="val 4828"/>
            </a:avLst>
          </a:prstGeom>
          <a:solidFill>
            <a:srgbClr val="FFFFFF"/>
          </a:solidFill>
          <a:ln w="12700">
            <a:solidFill>
              <a:srgbClr val="E2DED5"/>
            </a:solidFill>
            <a:prstDash val="solid"/>
          </a:ln>
        </p:spPr>
      </p:sp>
      <p:sp>
        <p:nvSpPr>
          <p:cNvPr id="7" name="Shape 5"/>
          <p:cNvSpPr/>
          <p:nvPr/>
        </p:nvSpPr>
        <p:spPr>
          <a:xfrm>
            <a:off x="5961888" y="2011680"/>
            <a:ext cx="146304" cy="146304"/>
          </a:xfrm>
          <a:prstGeom prst="ellipse">
            <a:avLst/>
          </a:prstGeom>
          <a:solidFill>
            <a:srgbClr val="E8672F"/>
          </a:solidFill>
          <a:ln/>
        </p:spPr>
      </p:sp>
      <p:sp>
        <p:nvSpPr>
          <p:cNvPr id="8" name="Text 6"/>
          <p:cNvSpPr txBox="1"/>
          <p:nvPr/>
        </p:nvSpPr>
        <p:spPr>
          <a:xfrm>
            <a:off x="6217920" y="1956816"/>
            <a:ext cx="5257800" cy="411480"/>
          </a:xfrm>
          <a:prstGeom prst="rect">
            <a:avLst/>
          </a:prstGeom>
          <a:noFill/>
          <a:ln/>
        </p:spPr>
        <p:txBody>
          <a:bodyPr wrap="square" lIns="0" tIns="0" rIns="0" bIns="0" rtlCol="0" anchor="ctr"/>
          <a:lstStyle/>
          <a:p>
            <a:pPr indent="0" marL="0">
              <a:buNone/>
            </a:pPr>
            <a:r>
              <a:rPr lang="en-US" sz="1500" b="1" dirty="0">
                <a:solidFill>
                  <a:srgbClr val="1C2028"/>
                </a:solidFill>
              </a:rPr>
              <a:t>9 orders drag the mean up to 30%</a:t>
            </a:r>
            <a:endParaRPr lang="en-US" sz="1500" dirty="0"/>
          </a:p>
        </p:txBody>
      </p:sp>
      <p:sp>
        <p:nvSpPr>
          <p:cNvPr id="9" name="Text 7"/>
          <p:cNvSpPr txBox="1"/>
          <p:nvPr/>
        </p:nvSpPr>
        <p:spPr>
          <a:xfrm>
            <a:off x="5989320" y="2377440"/>
            <a:ext cx="5394960" cy="640080"/>
          </a:xfrm>
          <a:prstGeom prst="rect">
            <a:avLst/>
          </a:prstGeom>
          <a:noFill/>
          <a:ln/>
        </p:spPr>
        <p:txBody>
          <a:bodyPr wrap="square" lIns="0" tIns="0" rIns="0" bIns="0" rtlCol="0" anchor="ctr"/>
          <a:lstStyle/>
          <a:p>
            <a:pPr indent="0" marL="0">
              <a:lnSpc>
                <a:spcPct val="125000"/>
              </a:lnSpc>
              <a:buNone/>
            </a:pPr>
            <a:r>
              <a:rPr lang="en-US" sz="1250" dirty="0">
                <a:solidFill>
                  <a:srgbClr val="5D6470"/>
                </a:solidFill>
              </a:rPr>
              <a:t>MES shows up to 55x the Excel quantity. Looks like record splitting, not a broken system.</a:t>
            </a:r>
            <a:endParaRPr lang="en-US" sz="1250" dirty="0"/>
          </a:p>
        </p:txBody>
      </p:sp>
      <p:sp>
        <p:nvSpPr>
          <p:cNvPr id="10" name="Shape 8"/>
          <p:cNvSpPr/>
          <p:nvPr/>
        </p:nvSpPr>
        <p:spPr>
          <a:xfrm>
            <a:off x="5760720" y="3337560"/>
            <a:ext cx="5852160" cy="1325880"/>
          </a:xfrm>
          <a:prstGeom prst="roundRect">
            <a:avLst>
              <a:gd name="adj" fmla="val 4828"/>
            </a:avLst>
          </a:prstGeom>
          <a:solidFill>
            <a:srgbClr val="FFFFFF"/>
          </a:solidFill>
          <a:ln w="12700">
            <a:solidFill>
              <a:srgbClr val="E2DED5"/>
            </a:solidFill>
            <a:prstDash val="solid"/>
          </a:ln>
        </p:spPr>
      </p:sp>
      <p:sp>
        <p:nvSpPr>
          <p:cNvPr id="11" name="Shape 9"/>
          <p:cNvSpPr/>
          <p:nvPr/>
        </p:nvSpPr>
        <p:spPr>
          <a:xfrm>
            <a:off x="5961888" y="3520440"/>
            <a:ext cx="146304" cy="146304"/>
          </a:xfrm>
          <a:prstGeom prst="ellipse">
            <a:avLst/>
          </a:prstGeom>
          <a:solidFill>
            <a:srgbClr val="E8672F"/>
          </a:solidFill>
          <a:ln/>
        </p:spPr>
      </p:sp>
      <p:sp>
        <p:nvSpPr>
          <p:cNvPr id="12" name="Text 10"/>
          <p:cNvSpPr txBox="1"/>
          <p:nvPr/>
        </p:nvSpPr>
        <p:spPr>
          <a:xfrm>
            <a:off x="6217920" y="3465576"/>
            <a:ext cx="5257800" cy="411480"/>
          </a:xfrm>
          <a:prstGeom prst="rect">
            <a:avLst/>
          </a:prstGeom>
          <a:noFill/>
          <a:ln/>
        </p:spPr>
        <p:txBody>
          <a:bodyPr wrap="square" lIns="0" tIns="0" rIns="0" bIns="0" rtlCol="0" anchor="ctr"/>
          <a:lstStyle/>
          <a:p>
            <a:pPr indent="0" marL="0">
              <a:buNone/>
            </a:pPr>
            <a:r>
              <a:rPr lang="en-US" sz="1500" b="1" dirty="0">
                <a:solidFill>
                  <a:srgbClr val="1C2028"/>
                </a:solidFill>
              </a:rPr>
              <a:t>Excel starts about 5 minutes earlier</a:t>
            </a:r>
            <a:endParaRPr lang="en-US" sz="1500" dirty="0"/>
          </a:p>
        </p:txBody>
      </p:sp>
      <p:sp>
        <p:nvSpPr>
          <p:cNvPr id="13" name="Text 11"/>
          <p:cNvSpPr txBox="1"/>
          <p:nvPr/>
        </p:nvSpPr>
        <p:spPr>
          <a:xfrm>
            <a:off x="5989320" y="3886200"/>
            <a:ext cx="5394960" cy="640080"/>
          </a:xfrm>
          <a:prstGeom prst="rect">
            <a:avLst/>
          </a:prstGeom>
          <a:noFill/>
          <a:ln/>
        </p:spPr>
        <p:txBody>
          <a:bodyPr wrap="square" lIns="0" tIns="0" rIns="0" bIns="0" rtlCol="0" anchor="ctr"/>
          <a:lstStyle/>
          <a:p>
            <a:pPr indent="0" marL="0">
              <a:lnSpc>
                <a:spcPct val="125000"/>
              </a:lnSpc>
              <a:buNone/>
            </a:pPr>
            <a:r>
              <a:rPr lang="en-US" sz="1250" dirty="0">
                <a:solidFill>
                  <a:srgbClr val="5D6470"/>
                </a:solidFill>
              </a:rPr>
              <a:t>Operators write the shift start; MES logs the first booked minute.</a:t>
            </a:r>
            <a:endParaRPr lang="en-US" sz="1250" dirty="0"/>
          </a:p>
        </p:txBody>
      </p:sp>
      <p:sp>
        <p:nvSpPr>
          <p:cNvPr id="14" name="Shape 12"/>
          <p:cNvSpPr/>
          <p:nvPr/>
        </p:nvSpPr>
        <p:spPr>
          <a:xfrm>
            <a:off x="5760720" y="4846320"/>
            <a:ext cx="5852160" cy="1325880"/>
          </a:xfrm>
          <a:prstGeom prst="roundRect">
            <a:avLst>
              <a:gd name="adj" fmla="val 4828"/>
            </a:avLst>
          </a:prstGeom>
          <a:solidFill>
            <a:srgbClr val="FFFFFF"/>
          </a:solidFill>
          <a:ln w="12700">
            <a:solidFill>
              <a:srgbClr val="E2DED5"/>
            </a:solidFill>
            <a:prstDash val="solid"/>
          </a:ln>
        </p:spPr>
      </p:sp>
      <p:sp>
        <p:nvSpPr>
          <p:cNvPr id="15" name="Shape 13"/>
          <p:cNvSpPr/>
          <p:nvPr/>
        </p:nvSpPr>
        <p:spPr>
          <a:xfrm>
            <a:off x="5961888" y="5029200"/>
            <a:ext cx="146304" cy="146304"/>
          </a:xfrm>
          <a:prstGeom prst="ellipse">
            <a:avLst/>
          </a:prstGeom>
          <a:solidFill>
            <a:srgbClr val="E8672F"/>
          </a:solidFill>
          <a:ln/>
        </p:spPr>
      </p:sp>
      <p:sp>
        <p:nvSpPr>
          <p:cNvPr id="16" name="Text 14"/>
          <p:cNvSpPr txBox="1"/>
          <p:nvPr/>
        </p:nvSpPr>
        <p:spPr>
          <a:xfrm>
            <a:off x="6217920" y="4974336"/>
            <a:ext cx="5257800" cy="411480"/>
          </a:xfrm>
          <a:prstGeom prst="rect">
            <a:avLst/>
          </a:prstGeom>
          <a:noFill/>
          <a:ln/>
        </p:spPr>
        <p:txBody>
          <a:bodyPr wrap="square" lIns="0" tIns="0" rIns="0" bIns="0" rtlCol="0" anchor="ctr"/>
          <a:lstStyle/>
          <a:p>
            <a:pPr indent="0" marL="0">
              <a:buNone/>
            </a:pPr>
            <a:r>
              <a:rPr lang="en-US" sz="1500" b="1" dirty="0">
                <a:solidFill>
                  <a:srgbClr val="1C2028"/>
                </a:solidFill>
              </a:rPr>
              <a:t>MES keeps the clock running overnight</a:t>
            </a:r>
            <a:endParaRPr lang="en-US" sz="1500" dirty="0"/>
          </a:p>
        </p:txBody>
      </p:sp>
      <p:sp>
        <p:nvSpPr>
          <p:cNvPr id="17" name="Text 15"/>
          <p:cNvSpPr txBox="1"/>
          <p:nvPr/>
        </p:nvSpPr>
        <p:spPr>
          <a:xfrm>
            <a:off x="5989320" y="5394960"/>
            <a:ext cx="5394960" cy="640080"/>
          </a:xfrm>
          <a:prstGeom prst="rect">
            <a:avLst/>
          </a:prstGeom>
          <a:noFill/>
          <a:ln/>
        </p:spPr>
        <p:txBody>
          <a:bodyPr wrap="square" lIns="0" tIns="0" rIns="0" bIns="0" rtlCol="0" anchor="ctr"/>
          <a:lstStyle/>
          <a:p>
            <a:pPr indent="0" marL="0">
              <a:lnSpc>
                <a:spcPct val="125000"/>
              </a:lnSpc>
              <a:buNone/>
            </a:pPr>
            <a:r>
              <a:rPr lang="en-US" sz="1250" dirty="0">
                <a:solidFill>
                  <a:srgbClr val="5D6470"/>
                </a:solidFill>
              </a:rPr>
              <a:t>Durations run to 06:00 next day, inflating time and deflating rates.</a:t>
            </a:r>
            <a:endParaRPr lang="en-US" sz="1250" dirty="0"/>
          </a:p>
        </p:txBody>
      </p:sp>
      <p:sp>
        <p:nvSpPr>
          <p:cNvPr id="18" name="Text 16"/>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19" name="Text 17"/>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09 /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FINDING 5, ENERGY ON KM1</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Two sub-machines draw 61% of the line's power</a:t>
            </a:r>
            <a:endParaRPr lang="en-US" sz="3200" dirty="0"/>
          </a:p>
        </p:txBody>
      </p:sp>
      <p:sp>
        <p:nvSpPr>
          <p:cNvPr id="4" name="Text 2"/>
          <p:cNvSpPr txBox="1"/>
          <p:nvPr/>
        </p:nvSpPr>
        <p:spPr>
          <a:xfrm>
            <a:off x="548640" y="1965960"/>
            <a:ext cx="1828800" cy="365760"/>
          </a:xfrm>
          <a:prstGeom prst="rect">
            <a:avLst/>
          </a:prstGeom>
          <a:noFill/>
          <a:ln/>
        </p:spPr>
        <p:txBody>
          <a:bodyPr wrap="square" lIns="0" tIns="0" rIns="0" bIns="0" rtlCol="0" anchor="ctr"/>
          <a:lstStyle/>
          <a:p>
            <a:pPr indent="0" marL="0">
              <a:buNone/>
            </a:pPr>
            <a:r>
              <a:rPr lang="en-US" sz="1400" b="1" dirty="0">
                <a:solidFill>
                  <a:srgbClr val="1C2028"/>
                </a:solidFill>
              </a:rPr>
              <a:t>Capper</a:t>
            </a:r>
            <a:endParaRPr lang="en-US" sz="1400" dirty="0"/>
          </a:p>
        </p:txBody>
      </p:sp>
      <p:sp>
        <p:nvSpPr>
          <p:cNvPr id="5" name="Shape 3"/>
          <p:cNvSpPr/>
          <p:nvPr/>
        </p:nvSpPr>
        <p:spPr>
          <a:xfrm>
            <a:off x="2468880" y="1993392"/>
            <a:ext cx="3044952" cy="301752"/>
          </a:xfrm>
          <a:prstGeom prst="roundRect">
            <a:avLst>
              <a:gd name="adj" fmla="val 12121"/>
            </a:avLst>
          </a:prstGeom>
          <a:solidFill>
            <a:srgbClr val="E8672F"/>
          </a:solidFill>
          <a:ln/>
        </p:spPr>
      </p:sp>
      <p:sp>
        <p:nvSpPr>
          <p:cNvPr id="6" name="Text 4"/>
          <p:cNvSpPr txBox="1"/>
          <p:nvPr/>
        </p:nvSpPr>
        <p:spPr>
          <a:xfrm>
            <a:off x="5605272" y="1965960"/>
            <a:ext cx="1005840" cy="365760"/>
          </a:xfrm>
          <a:prstGeom prst="rect">
            <a:avLst/>
          </a:prstGeom>
          <a:noFill/>
          <a:ln/>
        </p:spPr>
        <p:txBody>
          <a:bodyPr wrap="square" lIns="0" tIns="0" rIns="0" bIns="0" rtlCol="0" anchor="ctr"/>
          <a:lstStyle/>
          <a:p>
            <a:pPr indent="0" marL="0">
              <a:buNone/>
            </a:pPr>
            <a:r>
              <a:rPr lang="en-US" sz="1250" dirty="0">
                <a:solidFill>
                  <a:srgbClr val="5D6470"/>
                </a:solidFill>
              </a:rPr>
              <a:t>1.11 kW</a:t>
            </a:r>
            <a:endParaRPr lang="en-US" sz="1250" dirty="0"/>
          </a:p>
        </p:txBody>
      </p:sp>
      <p:sp>
        <p:nvSpPr>
          <p:cNvPr id="7" name="Text 5"/>
          <p:cNvSpPr txBox="1"/>
          <p:nvPr/>
        </p:nvSpPr>
        <p:spPr>
          <a:xfrm>
            <a:off x="548640" y="2514600"/>
            <a:ext cx="1828800" cy="365760"/>
          </a:xfrm>
          <a:prstGeom prst="rect">
            <a:avLst/>
          </a:prstGeom>
          <a:noFill/>
          <a:ln/>
        </p:spPr>
        <p:txBody>
          <a:bodyPr wrap="square" lIns="0" tIns="0" rIns="0" bIns="0" rtlCol="0" anchor="ctr"/>
          <a:lstStyle/>
          <a:p>
            <a:pPr indent="0" marL="0">
              <a:buNone/>
            </a:pPr>
            <a:r>
              <a:rPr lang="en-US" sz="1400" b="1" dirty="0">
                <a:solidFill>
                  <a:srgbClr val="1C2028"/>
                </a:solidFill>
              </a:rPr>
              <a:t>Carton folder</a:t>
            </a:r>
            <a:endParaRPr lang="en-US" sz="1400" dirty="0"/>
          </a:p>
        </p:txBody>
      </p:sp>
      <p:sp>
        <p:nvSpPr>
          <p:cNvPr id="8" name="Shape 6"/>
          <p:cNvSpPr/>
          <p:nvPr/>
        </p:nvSpPr>
        <p:spPr>
          <a:xfrm>
            <a:off x="2468880" y="2542032"/>
            <a:ext cx="2359152" cy="301752"/>
          </a:xfrm>
          <a:prstGeom prst="roundRect">
            <a:avLst>
              <a:gd name="adj" fmla="val 12121"/>
            </a:avLst>
          </a:prstGeom>
          <a:solidFill>
            <a:srgbClr val="E8672F"/>
          </a:solidFill>
          <a:ln/>
        </p:spPr>
      </p:sp>
      <p:sp>
        <p:nvSpPr>
          <p:cNvPr id="9" name="Text 7"/>
          <p:cNvSpPr txBox="1"/>
          <p:nvPr/>
        </p:nvSpPr>
        <p:spPr>
          <a:xfrm>
            <a:off x="4919472" y="2514600"/>
            <a:ext cx="1005840" cy="365760"/>
          </a:xfrm>
          <a:prstGeom prst="rect">
            <a:avLst/>
          </a:prstGeom>
          <a:noFill/>
          <a:ln/>
        </p:spPr>
        <p:txBody>
          <a:bodyPr wrap="square" lIns="0" tIns="0" rIns="0" bIns="0" rtlCol="0" anchor="ctr"/>
          <a:lstStyle/>
          <a:p>
            <a:pPr indent="0" marL="0">
              <a:buNone/>
            </a:pPr>
            <a:r>
              <a:rPr lang="en-US" sz="1250" dirty="0">
                <a:solidFill>
                  <a:srgbClr val="5D6470"/>
                </a:solidFill>
              </a:rPr>
              <a:t>0.86 kW</a:t>
            </a:r>
            <a:endParaRPr lang="en-US" sz="1250" dirty="0"/>
          </a:p>
        </p:txBody>
      </p:sp>
      <p:sp>
        <p:nvSpPr>
          <p:cNvPr id="10" name="Text 8"/>
          <p:cNvSpPr txBox="1"/>
          <p:nvPr/>
        </p:nvSpPr>
        <p:spPr>
          <a:xfrm>
            <a:off x="548640" y="3063240"/>
            <a:ext cx="1828800" cy="365760"/>
          </a:xfrm>
          <a:prstGeom prst="rect">
            <a:avLst/>
          </a:prstGeom>
          <a:noFill/>
          <a:ln/>
        </p:spPr>
        <p:txBody>
          <a:bodyPr wrap="square" lIns="0" tIns="0" rIns="0" bIns="0" rtlCol="0" anchor="ctr"/>
          <a:lstStyle/>
          <a:p>
            <a:pPr indent="0" marL="0">
              <a:buNone/>
            </a:pPr>
            <a:r>
              <a:rPr lang="en-US" sz="1400" b="1" dirty="0">
                <a:solidFill>
                  <a:srgbClr val="1C2028"/>
                </a:solidFill>
              </a:rPr>
              <a:t>Filler</a:t>
            </a:r>
            <a:endParaRPr lang="en-US" sz="1400" dirty="0"/>
          </a:p>
        </p:txBody>
      </p:sp>
      <p:sp>
        <p:nvSpPr>
          <p:cNvPr id="11" name="Shape 9"/>
          <p:cNvSpPr/>
          <p:nvPr/>
        </p:nvSpPr>
        <p:spPr>
          <a:xfrm>
            <a:off x="2468880" y="3090672"/>
            <a:ext cx="2029968" cy="301752"/>
          </a:xfrm>
          <a:prstGeom prst="roundRect">
            <a:avLst>
              <a:gd name="adj" fmla="val 12121"/>
            </a:avLst>
          </a:prstGeom>
          <a:solidFill>
            <a:srgbClr val="C9C4B8"/>
          </a:solidFill>
          <a:ln/>
        </p:spPr>
      </p:sp>
      <p:sp>
        <p:nvSpPr>
          <p:cNvPr id="12" name="Text 10"/>
          <p:cNvSpPr txBox="1"/>
          <p:nvPr/>
        </p:nvSpPr>
        <p:spPr>
          <a:xfrm>
            <a:off x="4590288" y="3063240"/>
            <a:ext cx="1005840" cy="365760"/>
          </a:xfrm>
          <a:prstGeom prst="rect">
            <a:avLst/>
          </a:prstGeom>
          <a:noFill/>
          <a:ln/>
        </p:spPr>
        <p:txBody>
          <a:bodyPr wrap="square" lIns="0" tIns="0" rIns="0" bIns="0" rtlCol="0" anchor="ctr"/>
          <a:lstStyle/>
          <a:p>
            <a:pPr indent="0" marL="0">
              <a:buNone/>
            </a:pPr>
            <a:r>
              <a:rPr lang="en-US" sz="1250" dirty="0">
                <a:solidFill>
                  <a:srgbClr val="5D6470"/>
                </a:solidFill>
              </a:rPr>
              <a:t>0.74 kW</a:t>
            </a:r>
            <a:endParaRPr lang="en-US" sz="1250" dirty="0"/>
          </a:p>
        </p:txBody>
      </p:sp>
      <p:sp>
        <p:nvSpPr>
          <p:cNvPr id="13" name="Text 11"/>
          <p:cNvSpPr txBox="1"/>
          <p:nvPr/>
        </p:nvSpPr>
        <p:spPr>
          <a:xfrm>
            <a:off x="548640" y="3611880"/>
            <a:ext cx="1828800" cy="365760"/>
          </a:xfrm>
          <a:prstGeom prst="rect">
            <a:avLst/>
          </a:prstGeom>
          <a:noFill/>
          <a:ln/>
        </p:spPr>
        <p:txBody>
          <a:bodyPr wrap="square" lIns="0" tIns="0" rIns="0" bIns="0" rtlCol="0" anchor="ctr"/>
          <a:lstStyle/>
          <a:p>
            <a:pPr indent="0" marL="0">
              <a:buNone/>
            </a:pPr>
            <a:r>
              <a:rPr lang="en-US" sz="1400" b="1" dirty="0">
                <a:solidFill>
                  <a:srgbClr val="1C2028"/>
                </a:solidFill>
              </a:rPr>
              <a:t>Bottle feeder</a:t>
            </a:r>
            <a:endParaRPr lang="en-US" sz="1400" dirty="0"/>
          </a:p>
        </p:txBody>
      </p:sp>
      <p:sp>
        <p:nvSpPr>
          <p:cNvPr id="14" name="Shape 12"/>
          <p:cNvSpPr/>
          <p:nvPr/>
        </p:nvSpPr>
        <p:spPr>
          <a:xfrm>
            <a:off x="2468880" y="3639312"/>
            <a:ext cx="1014984" cy="301752"/>
          </a:xfrm>
          <a:prstGeom prst="roundRect">
            <a:avLst>
              <a:gd name="adj" fmla="val 12121"/>
            </a:avLst>
          </a:prstGeom>
          <a:solidFill>
            <a:srgbClr val="C9C4B8"/>
          </a:solidFill>
          <a:ln/>
        </p:spPr>
      </p:sp>
      <p:sp>
        <p:nvSpPr>
          <p:cNvPr id="15" name="Text 13"/>
          <p:cNvSpPr txBox="1"/>
          <p:nvPr/>
        </p:nvSpPr>
        <p:spPr>
          <a:xfrm>
            <a:off x="3575304" y="3611880"/>
            <a:ext cx="1005840" cy="365760"/>
          </a:xfrm>
          <a:prstGeom prst="rect">
            <a:avLst/>
          </a:prstGeom>
          <a:noFill/>
          <a:ln/>
        </p:spPr>
        <p:txBody>
          <a:bodyPr wrap="square" lIns="0" tIns="0" rIns="0" bIns="0" rtlCol="0" anchor="ctr"/>
          <a:lstStyle/>
          <a:p>
            <a:pPr indent="0" marL="0">
              <a:buNone/>
            </a:pPr>
            <a:r>
              <a:rPr lang="en-US" sz="1250" dirty="0">
                <a:solidFill>
                  <a:srgbClr val="5D6470"/>
                </a:solidFill>
              </a:rPr>
              <a:t>0.37 kW</a:t>
            </a:r>
            <a:endParaRPr lang="en-US" sz="1250" dirty="0"/>
          </a:p>
        </p:txBody>
      </p:sp>
      <p:sp>
        <p:nvSpPr>
          <p:cNvPr id="16" name="Text 14"/>
          <p:cNvSpPr txBox="1"/>
          <p:nvPr/>
        </p:nvSpPr>
        <p:spPr>
          <a:xfrm>
            <a:off x="548640" y="4160520"/>
            <a:ext cx="1828800" cy="365760"/>
          </a:xfrm>
          <a:prstGeom prst="rect">
            <a:avLst/>
          </a:prstGeom>
          <a:noFill/>
          <a:ln/>
        </p:spPr>
        <p:txBody>
          <a:bodyPr wrap="square" lIns="0" tIns="0" rIns="0" bIns="0" rtlCol="0" anchor="ctr"/>
          <a:lstStyle/>
          <a:p>
            <a:pPr indent="0" marL="0">
              <a:buNone/>
            </a:pPr>
            <a:r>
              <a:rPr lang="en-US" sz="1400" b="1" dirty="0">
                <a:solidFill>
                  <a:srgbClr val="1C2028"/>
                </a:solidFill>
              </a:rPr>
              <a:t>Labeller</a:t>
            </a:r>
            <a:endParaRPr lang="en-US" sz="1400" dirty="0"/>
          </a:p>
        </p:txBody>
      </p:sp>
      <p:sp>
        <p:nvSpPr>
          <p:cNvPr id="17" name="Shape 15"/>
          <p:cNvSpPr/>
          <p:nvPr/>
        </p:nvSpPr>
        <p:spPr>
          <a:xfrm>
            <a:off x="2468880" y="4187952"/>
            <a:ext cx="329184" cy="301752"/>
          </a:xfrm>
          <a:prstGeom prst="roundRect">
            <a:avLst>
              <a:gd name="adj" fmla="val 12121"/>
            </a:avLst>
          </a:prstGeom>
          <a:solidFill>
            <a:srgbClr val="C9C4B8"/>
          </a:solidFill>
          <a:ln/>
        </p:spPr>
      </p:sp>
      <p:sp>
        <p:nvSpPr>
          <p:cNvPr id="18" name="Text 16"/>
          <p:cNvSpPr txBox="1"/>
          <p:nvPr/>
        </p:nvSpPr>
        <p:spPr>
          <a:xfrm>
            <a:off x="2889504" y="4160520"/>
            <a:ext cx="1005840" cy="365760"/>
          </a:xfrm>
          <a:prstGeom prst="rect">
            <a:avLst/>
          </a:prstGeom>
          <a:noFill/>
          <a:ln/>
        </p:spPr>
        <p:txBody>
          <a:bodyPr wrap="square" lIns="0" tIns="0" rIns="0" bIns="0" rtlCol="0" anchor="ctr"/>
          <a:lstStyle/>
          <a:p>
            <a:pPr indent="0" marL="0">
              <a:buNone/>
            </a:pPr>
            <a:r>
              <a:rPr lang="en-US" sz="1250" dirty="0">
                <a:solidFill>
                  <a:srgbClr val="5D6470"/>
                </a:solidFill>
              </a:rPr>
              <a:t>0.12 kW</a:t>
            </a:r>
            <a:endParaRPr lang="en-US" sz="1250" dirty="0"/>
          </a:p>
        </p:txBody>
      </p:sp>
      <p:sp>
        <p:nvSpPr>
          <p:cNvPr id="19" name="Text 17"/>
          <p:cNvSpPr txBox="1"/>
          <p:nvPr/>
        </p:nvSpPr>
        <p:spPr>
          <a:xfrm>
            <a:off x="548640" y="4800600"/>
            <a:ext cx="6035040" cy="457200"/>
          </a:xfrm>
          <a:prstGeom prst="rect">
            <a:avLst/>
          </a:prstGeom>
          <a:noFill/>
          <a:ln/>
        </p:spPr>
        <p:txBody>
          <a:bodyPr wrap="square" lIns="0" tIns="0" rIns="0" bIns="0" rtlCol="0" anchor="ctr"/>
          <a:lstStyle/>
          <a:p>
            <a:pPr indent="0" marL="0">
              <a:buNone/>
            </a:pPr>
            <a:r>
              <a:rPr lang="en-US" sz="1250" dirty="0">
                <a:solidFill>
                  <a:srgbClr val="5D6470"/>
                </a:solidFill>
              </a:rPr>
              <a:t>5 meters, about 1 reading per minute, about 3.2 kW combined</a:t>
            </a:r>
            <a:endParaRPr lang="en-US" sz="1250" dirty="0"/>
          </a:p>
        </p:txBody>
      </p:sp>
      <p:sp>
        <p:nvSpPr>
          <p:cNvPr id="20" name="Shape 18"/>
          <p:cNvSpPr/>
          <p:nvPr/>
        </p:nvSpPr>
        <p:spPr>
          <a:xfrm>
            <a:off x="6949440" y="1920240"/>
            <a:ext cx="4663440" cy="3749040"/>
          </a:xfrm>
          <a:prstGeom prst="roundRect">
            <a:avLst>
              <a:gd name="adj" fmla="val 1707"/>
            </a:avLst>
          </a:prstGeom>
          <a:solidFill>
            <a:srgbClr val="14171C"/>
          </a:solidFill>
          <a:ln/>
        </p:spPr>
      </p:sp>
      <p:sp>
        <p:nvSpPr>
          <p:cNvPr id="21" name="Text 19"/>
          <p:cNvSpPr txBox="1"/>
          <p:nvPr/>
        </p:nvSpPr>
        <p:spPr>
          <a:xfrm>
            <a:off x="7269480" y="2194560"/>
            <a:ext cx="4023360" cy="320040"/>
          </a:xfrm>
          <a:prstGeom prst="rect">
            <a:avLst/>
          </a:prstGeom>
          <a:noFill/>
          <a:ln/>
        </p:spPr>
        <p:txBody>
          <a:bodyPr wrap="square" lIns="0" tIns="0" rIns="0" bIns="0" rtlCol="0" anchor="ctr"/>
          <a:lstStyle/>
          <a:p>
            <a:pPr indent="0" marL="0">
              <a:buNone/>
            </a:pPr>
            <a:r>
              <a:rPr lang="en-US" sz="1250" b="1" spc="150" kern="0" dirty="0">
                <a:solidFill>
                  <a:srgbClr val="E8672F"/>
                </a:solidFill>
              </a:rPr>
              <a:t>ONE ORDER, TRACED END TO END</a:t>
            </a:r>
            <a:endParaRPr lang="en-US" sz="1250" dirty="0"/>
          </a:p>
        </p:txBody>
      </p:sp>
      <p:sp>
        <p:nvSpPr>
          <p:cNvPr id="22" name="Text 20"/>
          <p:cNvSpPr txBox="1"/>
          <p:nvPr/>
        </p:nvSpPr>
        <p:spPr>
          <a:xfrm>
            <a:off x="7269480" y="2560320"/>
            <a:ext cx="4023360" cy="1005840"/>
          </a:xfrm>
          <a:prstGeom prst="rect">
            <a:avLst/>
          </a:prstGeom>
          <a:noFill/>
          <a:ln/>
        </p:spPr>
        <p:txBody>
          <a:bodyPr wrap="square" lIns="0" tIns="0" rIns="0" bIns="0" rtlCol="0" anchor="ctr"/>
          <a:lstStyle/>
          <a:p>
            <a:pPr indent="0" marL="0">
              <a:buNone/>
            </a:pPr>
            <a:r>
              <a:rPr lang="en-US" sz="5200" b="1" dirty="0">
                <a:solidFill>
                  <a:srgbClr val="EEF0F3"/>
                </a:solidFill>
              </a:rPr>
              <a:t>2.8 kWh</a:t>
            </a:r>
            <a:endParaRPr lang="en-US" sz="5200" dirty="0"/>
          </a:p>
        </p:txBody>
      </p:sp>
      <p:sp>
        <p:nvSpPr>
          <p:cNvPr id="23" name="Text 21"/>
          <p:cNvSpPr txBox="1"/>
          <p:nvPr/>
        </p:nvSpPr>
        <p:spPr>
          <a:xfrm>
            <a:off x="7269480" y="3520440"/>
            <a:ext cx="4023360" cy="365760"/>
          </a:xfrm>
          <a:prstGeom prst="rect">
            <a:avLst/>
          </a:prstGeom>
          <a:noFill/>
          <a:ln/>
        </p:spPr>
        <p:txBody>
          <a:bodyPr wrap="square" lIns="0" tIns="0" rIns="0" bIns="0" rtlCol="0" anchor="ctr"/>
          <a:lstStyle/>
          <a:p>
            <a:pPr indent="0" marL="0">
              <a:buNone/>
            </a:pPr>
            <a:r>
              <a:rPr lang="en-US" sz="1300" dirty="0">
                <a:solidFill>
                  <a:srgbClr val="A9B0BB"/>
                </a:solidFill>
              </a:rPr>
              <a:t>per 1,000 bottles, order 702026, 9,112 units</a:t>
            </a:r>
            <a:endParaRPr lang="en-US" sz="1300" dirty="0"/>
          </a:p>
        </p:txBody>
      </p:sp>
      <p:sp>
        <p:nvSpPr>
          <p:cNvPr id="24" name="Text 22"/>
          <p:cNvSpPr txBox="1"/>
          <p:nvPr/>
        </p:nvSpPr>
        <p:spPr>
          <a:xfrm>
            <a:off x="7269480" y="3977640"/>
            <a:ext cx="4023360" cy="1371600"/>
          </a:xfrm>
          <a:prstGeom prst="rect">
            <a:avLst/>
          </a:prstGeom>
          <a:noFill/>
          <a:ln/>
        </p:spPr>
        <p:txBody>
          <a:bodyPr wrap="square" lIns="0" tIns="0" rIns="0" bIns="0" rtlCol="0" anchor="ctr"/>
          <a:lstStyle/>
          <a:p>
            <a:pPr indent="0" marL="0">
              <a:lnSpc>
                <a:spcPct val="130000"/>
              </a:lnSpc>
              <a:buNone/>
            </a:pPr>
            <a:r>
              <a:rPr lang="en-US" sz="1350" dirty="0">
                <a:solidFill>
                  <a:srgbClr val="EEF0F3"/>
                </a:solidFill>
              </a:rPr>
              <a:t>About a third of it was drawn while the line was stopped. Power barely moves (+/-5%) whether bottles flow or not.</a:t>
            </a:r>
            <a:endParaRPr lang="en-US" sz="1350" dirty="0"/>
          </a:p>
        </p:txBody>
      </p:sp>
      <p:sp>
        <p:nvSpPr>
          <p:cNvPr id="25" name="Text 23"/>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26" name="Text 24"/>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10 /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FOLLOW-UP</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The "broken" stoppage table, decoded</a:t>
            </a:r>
            <a:endParaRPr lang="en-US" sz="3200" dirty="0"/>
          </a:p>
        </p:txBody>
      </p:sp>
      <p:sp>
        <p:nvSpPr>
          <p:cNvPr id="4" name="Text 2"/>
          <p:cNvSpPr txBox="1"/>
          <p:nvPr/>
        </p:nvSpPr>
        <p:spPr>
          <a:xfrm>
            <a:off x="548640" y="1828800"/>
            <a:ext cx="10789920" cy="731520"/>
          </a:xfrm>
          <a:prstGeom prst="rect">
            <a:avLst/>
          </a:prstGeom>
          <a:noFill/>
          <a:ln/>
        </p:spPr>
        <p:txBody>
          <a:bodyPr wrap="square" lIns="0" tIns="0" rIns="0" bIns="0" rtlCol="0" anchor="ctr"/>
          <a:lstStyle/>
          <a:p>
            <a:pPr indent="0" marL="0">
              <a:lnSpc>
                <a:spcPct val="130000"/>
              </a:lnSpc>
              <a:buNone/>
            </a:pPr>
            <a:r>
              <a:rPr lang="en-US" sz="1500" dirty="0">
                <a:solidFill>
                  <a:srgbClr val="1C2028"/>
                </a:solidFill>
              </a:rPr>
              <a:t>On the day, undefined codes and 18-day stoppages made the table look unusable. Tested record by record afterwards, it is a clean state-time ledger:</a:t>
            </a:r>
            <a:endParaRPr lang="en-US" sz="1500" dirty="0"/>
          </a:p>
        </p:txBody>
      </p:sp>
      <p:sp>
        <p:nvSpPr>
          <p:cNvPr id="5" name="Shape 3"/>
          <p:cNvSpPr/>
          <p:nvPr/>
        </p:nvSpPr>
        <p:spPr>
          <a:xfrm>
            <a:off x="548640" y="2743200"/>
            <a:ext cx="2606040" cy="2651760"/>
          </a:xfrm>
          <a:prstGeom prst="roundRect">
            <a:avLst>
              <a:gd name="adj" fmla="val 2807"/>
            </a:avLst>
          </a:prstGeom>
          <a:solidFill>
            <a:srgbClr val="FFFFFF"/>
          </a:solidFill>
          <a:ln w="12700">
            <a:solidFill>
              <a:srgbClr val="E2DED5"/>
            </a:solidFill>
            <a:prstDash val="solid"/>
          </a:ln>
        </p:spPr>
      </p:sp>
      <p:sp>
        <p:nvSpPr>
          <p:cNvPr id="6" name="Text 4"/>
          <p:cNvSpPr txBox="1"/>
          <p:nvPr/>
        </p:nvSpPr>
        <p:spPr>
          <a:xfrm>
            <a:off x="731520" y="2944368"/>
            <a:ext cx="2240280" cy="320040"/>
          </a:xfrm>
          <a:prstGeom prst="rect">
            <a:avLst/>
          </a:prstGeom>
          <a:noFill/>
          <a:ln/>
        </p:spPr>
        <p:txBody>
          <a:bodyPr wrap="square" lIns="0" tIns="0" rIns="0" bIns="0" rtlCol="0" anchor="ctr"/>
          <a:lstStyle/>
          <a:p>
            <a:pPr indent="0" marL="0">
              <a:buNone/>
            </a:pPr>
            <a:r>
              <a:rPr lang="en-US" sz="1200" b="1" spc="150" kern="0" dirty="0">
                <a:solidFill>
                  <a:srgbClr val="E8672F"/>
                </a:solidFill>
              </a:rPr>
              <a:t>TYPE 3</a:t>
            </a:r>
            <a:endParaRPr lang="en-US" sz="1200" dirty="0"/>
          </a:p>
        </p:txBody>
      </p:sp>
      <p:sp>
        <p:nvSpPr>
          <p:cNvPr id="7" name="Text 5"/>
          <p:cNvSpPr txBox="1"/>
          <p:nvPr/>
        </p:nvSpPr>
        <p:spPr>
          <a:xfrm>
            <a:off x="731520" y="3291840"/>
            <a:ext cx="2240280" cy="594360"/>
          </a:xfrm>
          <a:prstGeom prst="rect">
            <a:avLst/>
          </a:prstGeom>
          <a:noFill/>
          <a:ln/>
        </p:spPr>
        <p:txBody>
          <a:bodyPr wrap="square" lIns="0" tIns="0" rIns="0" bIns="0" rtlCol="0" anchor="ctr"/>
          <a:lstStyle/>
          <a:p>
            <a:pPr indent="0" marL="0">
              <a:buNone/>
            </a:pPr>
            <a:r>
              <a:rPr lang="en-US" sz="1800" b="1" dirty="0">
                <a:solidFill>
                  <a:srgbClr val="1C2028"/>
                </a:solidFill>
              </a:rPr>
              <a:t>Producing</a:t>
            </a:r>
            <a:endParaRPr lang="en-US" sz="1800" dirty="0"/>
          </a:p>
        </p:txBody>
      </p:sp>
      <p:sp>
        <p:nvSpPr>
          <p:cNvPr id="8" name="Text 6"/>
          <p:cNvSpPr txBox="1"/>
          <p:nvPr/>
        </p:nvSpPr>
        <p:spPr>
          <a:xfrm>
            <a:off x="731520" y="3977640"/>
            <a:ext cx="2240280" cy="1188720"/>
          </a:xfrm>
          <a:prstGeom prst="rect">
            <a:avLst/>
          </a:prstGeom>
          <a:noFill/>
          <a:ln/>
        </p:spPr>
        <p:txBody>
          <a:bodyPr wrap="square" lIns="0" tIns="0" rIns="0" bIns="0" rtlCol="0" anchor="ctr"/>
          <a:lstStyle/>
          <a:p>
            <a:pPr indent="0" marL="0">
              <a:lnSpc>
                <a:spcPct val="130000"/>
              </a:lnSpc>
              <a:buNone/>
            </a:pPr>
            <a:r>
              <a:rPr lang="en-US" sz="1250" dirty="0">
                <a:solidFill>
                  <a:srgbClr val="5D6470"/>
                </a:solidFill>
              </a:rPr>
              <a:t>Equals production time on 6,023 of 6,023 records</a:t>
            </a:r>
            <a:endParaRPr lang="en-US" sz="1250" dirty="0"/>
          </a:p>
        </p:txBody>
      </p:sp>
      <p:sp>
        <p:nvSpPr>
          <p:cNvPr id="9" name="Shape 7"/>
          <p:cNvSpPr/>
          <p:nvPr/>
        </p:nvSpPr>
        <p:spPr>
          <a:xfrm>
            <a:off x="3337560" y="2743200"/>
            <a:ext cx="2606040" cy="2651760"/>
          </a:xfrm>
          <a:prstGeom prst="roundRect">
            <a:avLst>
              <a:gd name="adj" fmla="val 2807"/>
            </a:avLst>
          </a:prstGeom>
          <a:solidFill>
            <a:srgbClr val="FFFFFF"/>
          </a:solidFill>
          <a:ln w="12700">
            <a:solidFill>
              <a:srgbClr val="E2DED5"/>
            </a:solidFill>
            <a:prstDash val="solid"/>
          </a:ln>
        </p:spPr>
      </p:sp>
      <p:sp>
        <p:nvSpPr>
          <p:cNvPr id="10" name="Text 8"/>
          <p:cNvSpPr txBox="1"/>
          <p:nvPr/>
        </p:nvSpPr>
        <p:spPr>
          <a:xfrm>
            <a:off x="3520440" y="2944368"/>
            <a:ext cx="2240280" cy="320040"/>
          </a:xfrm>
          <a:prstGeom prst="rect">
            <a:avLst/>
          </a:prstGeom>
          <a:noFill/>
          <a:ln/>
        </p:spPr>
        <p:txBody>
          <a:bodyPr wrap="square" lIns="0" tIns="0" rIns="0" bIns="0" rtlCol="0" anchor="ctr"/>
          <a:lstStyle/>
          <a:p>
            <a:pPr indent="0" marL="0">
              <a:buNone/>
            </a:pPr>
            <a:r>
              <a:rPr lang="en-US" sz="1200" b="1" spc="150" kern="0" dirty="0">
                <a:solidFill>
                  <a:srgbClr val="E8672F"/>
                </a:solidFill>
              </a:rPr>
              <a:t>TYPE 1</a:t>
            </a:r>
            <a:endParaRPr lang="en-US" sz="1200" dirty="0"/>
          </a:p>
        </p:txBody>
      </p:sp>
      <p:sp>
        <p:nvSpPr>
          <p:cNvPr id="11" name="Text 9"/>
          <p:cNvSpPr txBox="1"/>
          <p:nvPr/>
        </p:nvSpPr>
        <p:spPr>
          <a:xfrm>
            <a:off x="3520440" y="3291840"/>
            <a:ext cx="2240280" cy="594360"/>
          </a:xfrm>
          <a:prstGeom prst="rect">
            <a:avLst/>
          </a:prstGeom>
          <a:noFill/>
          <a:ln/>
        </p:spPr>
        <p:txBody>
          <a:bodyPr wrap="square" lIns="0" tIns="0" rIns="0" bIns="0" rtlCol="0" anchor="ctr"/>
          <a:lstStyle/>
          <a:p>
            <a:pPr indent="0" marL="0">
              <a:buNone/>
            </a:pPr>
            <a:r>
              <a:rPr lang="en-US" sz="1800" b="1" dirty="0">
                <a:solidFill>
                  <a:srgbClr val="1C2028"/>
                </a:solidFill>
              </a:rPr>
              <a:t>Classified stops</a:t>
            </a:r>
            <a:endParaRPr lang="en-US" sz="1800" dirty="0"/>
          </a:p>
        </p:txBody>
      </p:sp>
      <p:sp>
        <p:nvSpPr>
          <p:cNvPr id="12" name="Text 10"/>
          <p:cNvSpPr txBox="1"/>
          <p:nvPr/>
        </p:nvSpPr>
        <p:spPr>
          <a:xfrm>
            <a:off x="3520440" y="3977640"/>
            <a:ext cx="2240280" cy="1188720"/>
          </a:xfrm>
          <a:prstGeom prst="rect">
            <a:avLst/>
          </a:prstGeom>
          <a:noFill/>
          <a:ln/>
        </p:spPr>
        <p:txBody>
          <a:bodyPr wrap="square" lIns="0" tIns="0" rIns="0" bIns="0" rtlCol="0" anchor="ctr"/>
          <a:lstStyle/>
          <a:p>
            <a:pPr indent="0" marL="0">
              <a:lnSpc>
                <a:spcPct val="130000"/>
              </a:lnSpc>
              <a:buNone/>
            </a:pPr>
            <a:r>
              <a:rPr lang="en-US" sz="1250" dirty="0">
                <a:solidFill>
                  <a:srgbClr val="5D6470"/>
                </a:solidFill>
              </a:rPr>
              <a:t>One row per reason code, per machine group</a:t>
            </a:r>
            <a:endParaRPr lang="en-US" sz="1250" dirty="0"/>
          </a:p>
        </p:txBody>
      </p:sp>
      <p:sp>
        <p:nvSpPr>
          <p:cNvPr id="13" name="Shape 11"/>
          <p:cNvSpPr/>
          <p:nvPr/>
        </p:nvSpPr>
        <p:spPr>
          <a:xfrm>
            <a:off x="6126480" y="2743200"/>
            <a:ext cx="2606040" cy="2651760"/>
          </a:xfrm>
          <a:prstGeom prst="roundRect">
            <a:avLst>
              <a:gd name="adj" fmla="val 2807"/>
            </a:avLst>
          </a:prstGeom>
          <a:solidFill>
            <a:srgbClr val="FFFFFF"/>
          </a:solidFill>
          <a:ln w="12700">
            <a:solidFill>
              <a:srgbClr val="E2DED5"/>
            </a:solidFill>
            <a:prstDash val="solid"/>
          </a:ln>
        </p:spPr>
      </p:sp>
      <p:sp>
        <p:nvSpPr>
          <p:cNvPr id="14" name="Text 12"/>
          <p:cNvSpPr txBox="1"/>
          <p:nvPr/>
        </p:nvSpPr>
        <p:spPr>
          <a:xfrm>
            <a:off x="6309360" y="2944368"/>
            <a:ext cx="2240280" cy="320040"/>
          </a:xfrm>
          <a:prstGeom prst="rect">
            <a:avLst/>
          </a:prstGeom>
          <a:noFill/>
          <a:ln/>
        </p:spPr>
        <p:txBody>
          <a:bodyPr wrap="square" lIns="0" tIns="0" rIns="0" bIns="0" rtlCol="0" anchor="ctr"/>
          <a:lstStyle/>
          <a:p>
            <a:pPr indent="0" marL="0">
              <a:buNone/>
            </a:pPr>
            <a:r>
              <a:rPr lang="en-US" sz="1200" b="1" spc="150" kern="0" dirty="0">
                <a:solidFill>
                  <a:srgbClr val="E8672F"/>
                </a:solidFill>
              </a:rPr>
              <a:t>TYPE 0</a:t>
            </a:r>
            <a:endParaRPr lang="en-US" sz="1200" dirty="0"/>
          </a:p>
        </p:txBody>
      </p:sp>
      <p:sp>
        <p:nvSpPr>
          <p:cNvPr id="15" name="Text 13"/>
          <p:cNvSpPr txBox="1"/>
          <p:nvPr/>
        </p:nvSpPr>
        <p:spPr>
          <a:xfrm>
            <a:off x="6309360" y="3291840"/>
            <a:ext cx="2240280" cy="594360"/>
          </a:xfrm>
          <a:prstGeom prst="rect">
            <a:avLst/>
          </a:prstGeom>
          <a:noFill/>
          <a:ln/>
        </p:spPr>
        <p:txBody>
          <a:bodyPr wrap="square" lIns="0" tIns="0" rIns="0" bIns="0" rtlCol="0" anchor="ctr"/>
          <a:lstStyle/>
          <a:p>
            <a:pPr indent="0" marL="0">
              <a:buNone/>
            </a:pPr>
            <a:r>
              <a:rPr lang="en-US" sz="1800" b="1" dirty="0">
                <a:solidFill>
                  <a:srgbClr val="1C2028"/>
                </a:solidFill>
              </a:rPr>
              <a:t>Micro-stops</a:t>
            </a:r>
            <a:endParaRPr lang="en-US" sz="1800" dirty="0"/>
          </a:p>
        </p:txBody>
      </p:sp>
      <p:sp>
        <p:nvSpPr>
          <p:cNvPr id="16" name="Text 14"/>
          <p:cNvSpPr txBox="1"/>
          <p:nvPr/>
        </p:nvSpPr>
        <p:spPr>
          <a:xfrm>
            <a:off x="6309360" y="3977640"/>
            <a:ext cx="2240280" cy="1188720"/>
          </a:xfrm>
          <a:prstGeom prst="rect">
            <a:avLst/>
          </a:prstGeom>
          <a:noFill/>
          <a:ln/>
        </p:spPr>
        <p:txBody>
          <a:bodyPr wrap="square" lIns="0" tIns="0" rIns="0" bIns="0" rtlCol="0" anchor="ctr"/>
          <a:lstStyle/>
          <a:p>
            <a:pPr indent="0" marL="0">
              <a:lnSpc>
                <a:spcPct val="130000"/>
              </a:lnSpc>
              <a:buNone/>
            </a:pPr>
            <a:r>
              <a:rPr lang="en-US" sz="1250" dirty="0">
                <a:solidFill>
                  <a:srgbClr val="5D6470"/>
                </a:solidFill>
              </a:rPr>
              <a:t>Short stops never given a reason</a:t>
            </a:r>
            <a:endParaRPr lang="en-US" sz="1250" dirty="0"/>
          </a:p>
        </p:txBody>
      </p:sp>
      <p:sp>
        <p:nvSpPr>
          <p:cNvPr id="17" name="Shape 15"/>
          <p:cNvSpPr/>
          <p:nvPr/>
        </p:nvSpPr>
        <p:spPr>
          <a:xfrm>
            <a:off x="8915400" y="2743200"/>
            <a:ext cx="2606040" cy="2651760"/>
          </a:xfrm>
          <a:prstGeom prst="roundRect">
            <a:avLst>
              <a:gd name="adj" fmla="val 2807"/>
            </a:avLst>
          </a:prstGeom>
          <a:solidFill>
            <a:srgbClr val="FFFFFF"/>
          </a:solidFill>
          <a:ln w="12700">
            <a:solidFill>
              <a:srgbClr val="E2DED5"/>
            </a:solidFill>
            <a:prstDash val="solid"/>
          </a:ln>
        </p:spPr>
      </p:sp>
      <p:sp>
        <p:nvSpPr>
          <p:cNvPr id="18" name="Text 16"/>
          <p:cNvSpPr txBox="1"/>
          <p:nvPr/>
        </p:nvSpPr>
        <p:spPr>
          <a:xfrm>
            <a:off x="9098280" y="2944368"/>
            <a:ext cx="2240280" cy="320040"/>
          </a:xfrm>
          <a:prstGeom prst="rect">
            <a:avLst/>
          </a:prstGeom>
          <a:noFill/>
          <a:ln/>
        </p:spPr>
        <p:txBody>
          <a:bodyPr wrap="square" lIns="0" tIns="0" rIns="0" bIns="0" rtlCol="0" anchor="ctr"/>
          <a:lstStyle/>
          <a:p>
            <a:pPr indent="0" marL="0">
              <a:buNone/>
            </a:pPr>
            <a:r>
              <a:rPr lang="en-US" sz="1200" b="1" spc="150" kern="0" dirty="0">
                <a:solidFill>
                  <a:srgbClr val="E8672F"/>
                </a:solidFill>
              </a:rPr>
              <a:t>TYPE 2</a:t>
            </a:r>
            <a:endParaRPr lang="en-US" sz="1200" dirty="0"/>
          </a:p>
        </p:txBody>
      </p:sp>
      <p:sp>
        <p:nvSpPr>
          <p:cNvPr id="19" name="Text 17"/>
          <p:cNvSpPr txBox="1"/>
          <p:nvPr/>
        </p:nvSpPr>
        <p:spPr>
          <a:xfrm>
            <a:off x="9098280" y="3291840"/>
            <a:ext cx="2240280" cy="594360"/>
          </a:xfrm>
          <a:prstGeom prst="rect">
            <a:avLst/>
          </a:prstGeom>
          <a:noFill/>
          <a:ln/>
        </p:spPr>
        <p:txBody>
          <a:bodyPr wrap="square" lIns="0" tIns="0" rIns="0" bIns="0" rtlCol="0" anchor="ctr"/>
          <a:lstStyle/>
          <a:p>
            <a:pPr indent="0" marL="0">
              <a:buNone/>
            </a:pPr>
            <a:r>
              <a:rPr lang="en-US" sz="1800" b="1" dirty="0">
                <a:solidFill>
                  <a:srgbClr val="1C2028"/>
                </a:solidFill>
              </a:rPr>
              <a:t>Idle before start</a:t>
            </a:r>
            <a:endParaRPr lang="en-US" sz="1800" dirty="0"/>
          </a:p>
        </p:txBody>
      </p:sp>
      <p:sp>
        <p:nvSpPr>
          <p:cNvPr id="20" name="Text 18"/>
          <p:cNvSpPr txBox="1"/>
          <p:nvPr/>
        </p:nvSpPr>
        <p:spPr>
          <a:xfrm>
            <a:off x="9098280" y="3977640"/>
            <a:ext cx="2240280" cy="1188720"/>
          </a:xfrm>
          <a:prstGeom prst="rect">
            <a:avLst/>
          </a:prstGeom>
          <a:noFill/>
          <a:ln/>
        </p:spPr>
        <p:txBody>
          <a:bodyPr wrap="square" lIns="0" tIns="0" rIns="0" bIns="0" rtlCol="0" anchor="ctr"/>
          <a:lstStyle/>
          <a:p>
            <a:pPr indent="0" marL="0">
              <a:lnSpc>
                <a:spcPct val="130000"/>
              </a:lnSpc>
              <a:buNone/>
            </a:pPr>
            <a:r>
              <a:rPr lang="en-US" sz="1250" dirty="0">
                <a:solidFill>
                  <a:srgbClr val="5D6470"/>
                </a:solidFill>
              </a:rPr>
              <a:t>Matches the gap since the last run (r = 0.92)</a:t>
            </a:r>
            <a:endParaRPr lang="en-US" sz="1250" dirty="0"/>
          </a:p>
        </p:txBody>
      </p:sp>
      <p:sp>
        <p:nvSpPr>
          <p:cNvPr id="21" name="Text 19"/>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22" name="Text 20"/>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11 /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indent="0" marL="0">
              <a:buNone/>
            </a:pPr>
            <a:r>
              <a:rPr lang="en-US" sz="1300" b="1" spc="200" kern="0" dirty="0">
                <a:solidFill>
                  <a:srgbClr val="E8672F"/>
                </a:solidFill>
              </a:rPr>
              <a:t>RECOMMENDATIONS</a:t>
            </a:r>
            <a:endParaRPr lang="en-US" sz="1300" dirty="0"/>
          </a:p>
        </p:txBody>
      </p:sp>
      <p:sp>
        <p:nvSpPr>
          <p:cNvPr id="3" name="Text 1"/>
          <p:cNvSpPr txBox="1"/>
          <p:nvPr/>
        </p:nvSpPr>
        <p:spPr>
          <a:xfrm>
            <a:off x="548640" y="777240"/>
            <a:ext cx="11064240" cy="1005840"/>
          </a:xfrm>
          <a:prstGeom prst="rect">
            <a:avLst/>
          </a:prstGeom>
          <a:noFill/>
          <a:ln/>
        </p:spPr>
        <p:txBody>
          <a:bodyPr wrap="square" lIns="0" tIns="0" rIns="0" bIns="0" rtlCol="0" anchor="ctr"/>
          <a:lstStyle/>
          <a:p>
            <a:pPr indent="0" marL="0">
              <a:buNone/>
            </a:pPr>
            <a:r>
              <a:rPr lang="en-US" sz="3200" b="1" dirty="0">
                <a:solidFill>
                  <a:srgbClr val="1C2028"/>
                </a:solidFill>
                <a:latin typeface="Arial" pitchFamily="34" charset="0"/>
                <a:ea typeface="Arial" pitchFamily="34" charset="-122"/>
                <a:cs typeface="Arial" pitchFamily="34" charset="-120"/>
              </a:rPr>
              <a:t>What we would tell the plant</a:t>
            </a:r>
            <a:endParaRPr lang="en-US" sz="3200" dirty="0"/>
          </a:p>
        </p:txBody>
      </p:sp>
      <p:sp>
        <p:nvSpPr>
          <p:cNvPr id="4" name="Shape 2"/>
          <p:cNvSpPr/>
          <p:nvPr/>
        </p:nvSpPr>
        <p:spPr>
          <a:xfrm>
            <a:off x="548640" y="1920240"/>
            <a:ext cx="5257800" cy="1920240"/>
          </a:xfrm>
          <a:prstGeom prst="roundRect">
            <a:avLst>
              <a:gd name="adj" fmla="val 3333"/>
            </a:avLst>
          </a:prstGeom>
          <a:solidFill>
            <a:srgbClr val="FFFFFF"/>
          </a:solidFill>
          <a:ln w="12700">
            <a:solidFill>
              <a:srgbClr val="E2DED5"/>
            </a:solidFill>
            <a:prstDash val="solid"/>
          </a:ln>
        </p:spPr>
      </p:sp>
      <p:sp>
        <p:nvSpPr>
          <p:cNvPr id="5" name="Shape 3"/>
          <p:cNvSpPr/>
          <p:nvPr/>
        </p:nvSpPr>
        <p:spPr>
          <a:xfrm>
            <a:off x="786384" y="2231136"/>
            <a:ext cx="164592" cy="164592"/>
          </a:xfrm>
          <a:prstGeom prst="ellipse">
            <a:avLst/>
          </a:prstGeom>
          <a:solidFill>
            <a:srgbClr val="E8672F"/>
          </a:solidFill>
          <a:ln/>
        </p:spPr>
      </p:sp>
      <p:sp>
        <p:nvSpPr>
          <p:cNvPr id="6" name="Text 4"/>
          <p:cNvSpPr txBox="1"/>
          <p:nvPr/>
        </p:nvSpPr>
        <p:spPr>
          <a:xfrm>
            <a:off x="1078992" y="2167128"/>
            <a:ext cx="4489704" cy="502920"/>
          </a:xfrm>
          <a:prstGeom prst="rect">
            <a:avLst/>
          </a:prstGeom>
          <a:noFill/>
          <a:ln/>
        </p:spPr>
        <p:txBody>
          <a:bodyPr wrap="square" lIns="0" tIns="0" rIns="0" bIns="0" rtlCol="0" anchor="ctr"/>
          <a:lstStyle/>
          <a:p>
            <a:pPr indent="0" marL="0">
              <a:buNone/>
            </a:pPr>
            <a:r>
              <a:rPr lang="en-US" sz="1800" b="1" dirty="0">
                <a:solidFill>
                  <a:srgbClr val="1C2028"/>
                </a:solidFill>
              </a:rPr>
              <a:t>Batch small orders</a:t>
            </a:r>
            <a:endParaRPr lang="en-US" sz="1800" dirty="0"/>
          </a:p>
        </p:txBody>
      </p:sp>
      <p:sp>
        <p:nvSpPr>
          <p:cNvPr id="7" name="Text 5"/>
          <p:cNvSpPr txBox="1"/>
          <p:nvPr/>
        </p:nvSpPr>
        <p:spPr>
          <a:xfrm>
            <a:off x="786384" y="2788920"/>
            <a:ext cx="4782312" cy="914400"/>
          </a:xfrm>
          <a:prstGeom prst="rect">
            <a:avLst/>
          </a:prstGeom>
          <a:noFill/>
          <a:ln/>
        </p:spPr>
        <p:txBody>
          <a:bodyPr wrap="square" lIns="0" tIns="0" rIns="0" bIns="0" rtlCol="0" anchor="ctr"/>
          <a:lstStyle/>
          <a:p>
            <a:pPr indent="0" marL="0">
              <a:lnSpc>
                <a:spcPct val="130000"/>
              </a:lnSpc>
              <a:buNone/>
            </a:pPr>
            <a:r>
              <a:rPr lang="en-US" sz="1350" dirty="0">
                <a:solidFill>
                  <a:srgbClr val="5D6470"/>
                </a:solidFill>
              </a:rPr>
              <a:t>The cheapest lever: +16 pp availability between smallest and largest orders.</a:t>
            </a:r>
            <a:endParaRPr lang="en-US" sz="1350" dirty="0"/>
          </a:p>
        </p:txBody>
      </p:sp>
      <p:sp>
        <p:nvSpPr>
          <p:cNvPr id="8" name="Shape 6"/>
          <p:cNvSpPr/>
          <p:nvPr/>
        </p:nvSpPr>
        <p:spPr>
          <a:xfrm>
            <a:off x="6080760" y="1920240"/>
            <a:ext cx="5257800" cy="1920240"/>
          </a:xfrm>
          <a:prstGeom prst="roundRect">
            <a:avLst>
              <a:gd name="adj" fmla="val 3333"/>
            </a:avLst>
          </a:prstGeom>
          <a:solidFill>
            <a:srgbClr val="FFFFFF"/>
          </a:solidFill>
          <a:ln w="12700">
            <a:solidFill>
              <a:srgbClr val="E2DED5"/>
            </a:solidFill>
            <a:prstDash val="solid"/>
          </a:ln>
        </p:spPr>
      </p:sp>
      <p:sp>
        <p:nvSpPr>
          <p:cNvPr id="9" name="Shape 7"/>
          <p:cNvSpPr/>
          <p:nvPr/>
        </p:nvSpPr>
        <p:spPr>
          <a:xfrm>
            <a:off x="6318504" y="2231136"/>
            <a:ext cx="164592" cy="164592"/>
          </a:xfrm>
          <a:prstGeom prst="ellipse">
            <a:avLst/>
          </a:prstGeom>
          <a:solidFill>
            <a:srgbClr val="E8672F"/>
          </a:solidFill>
          <a:ln/>
        </p:spPr>
      </p:sp>
      <p:sp>
        <p:nvSpPr>
          <p:cNvPr id="10" name="Text 8"/>
          <p:cNvSpPr txBox="1"/>
          <p:nvPr/>
        </p:nvSpPr>
        <p:spPr>
          <a:xfrm>
            <a:off x="6611112" y="2167128"/>
            <a:ext cx="4489704" cy="502920"/>
          </a:xfrm>
          <a:prstGeom prst="rect">
            <a:avLst/>
          </a:prstGeom>
          <a:noFill/>
          <a:ln/>
        </p:spPr>
        <p:txBody>
          <a:bodyPr wrap="square" lIns="0" tIns="0" rIns="0" bIns="0" rtlCol="0" anchor="ctr"/>
          <a:lstStyle/>
          <a:p>
            <a:pPr indent="0" marL="0">
              <a:buNone/>
            </a:pPr>
            <a:r>
              <a:rPr lang="en-US" sz="1800" b="1" dirty="0">
                <a:solidFill>
                  <a:srgbClr val="1C2028"/>
                </a:solidFill>
              </a:rPr>
              <a:t>Changeover study on the tube lines</a:t>
            </a:r>
            <a:endParaRPr lang="en-US" sz="1800" dirty="0"/>
          </a:p>
        </p:txBody>
      </p:sp>
      <p:sp>
        <p:nvSpPr>
          <p:cNvPr id="11" name="Text 9"/>
          <p:cNvSpPr txBox="1"/>
          <p:nvPr/>
        </p:nvSpPr>
        <p:spPr>
          <a:xfrm>
            <a:off x="6318504" y="2788920"/>
            <a:ext cx="4782312" cy="914400"/>
          </a:xfrm>
          <a:prstGeom prst="rect">
            <a:avLst/>
          </a:prstGeom>
          <a:noFill/>
          <a:ln/>
        </p:spPr>
        <p:txBody>
          <a:bodyPr wrap="square" lIns="0" tIns="0" rIns="0" bIns="0" rtlCol="0" anchor="ctr"/>
          <a:lstStyle/>
          <a:p>
            <a:pPr indent="0" marL="0">
              <a:lnSpc>
                <a:spcPct val="130000"/>
              </a:lnSpc>
              <a:buNone/>
            </a:pPr>
            <a:r>
              <a:rPr lang="en-US" sz="1350" dirty="0">
                <a:solidFill>
                  <a:srgbClr val="5D6470"/>
                </a:solidFill>
              </a:rPr>
              <a:t>77 to 82% of AXO downtime is organisational: setup, cleaning, staging.</a:t>
            </a:r>
            <a:endParaRPr lang="en-US" sz="1350" dirty="0"/>
          </a:p>
        </p:txBody>
      </p:sp>
      <p:sp>
        <p:nvSpPr>
          <p:cNvPr id="12" name="Shape 10"/>
          <p:cNvSpPr/>
          <p:nvPr/>
        </p:nvSpPr>
        <p:spPr>
          <a:xfrm>
            <a:off x="548640" y="4114800"/>
            <a:ext cx="5257800" cy="1920240"/>
          </a:xfrm>
          <a:prstGeom prst="roundRect">
            <a:avLst>
              <a:gd name="adj" fmla="val 3333"/>
            </a:avLst>
          </a:prstGeom>
          <a:solidFill>
            <a:srgbClr val="FFFFFF"/>
          </a:solidFill>
          <a:ln w="12700">
            <a:solidFill>
              <a:srgbClr val="E2DED5"/>
            </a:solidFill>
            <a:prstDash val="solid"/>
          </a:ln>
        </p:spPr>
      </p:sp>
      <p:sp>
        <p:nvSpPr>
          <p:cNvPr id="13" name="Shape 11"/>
          <p:cNvSpPr/>
          <p:nvPr/>
        </p:nvSpPr>
        <p:spPr>
          <a:xfrm>
            <a:off x="786384" y="4425696"/>
            <a:ext cx="164592" cy="164592"/>
          </a:xfrm>
          <a:prstGeom prst="ellipse">
            <a:avLst/>
          </a:prstGeom>
          <a:solidFill>
            <a:srgbClr val="3B7DD8"/>
          </a:solidFill>
          <a:ln/>
        </p:spPr>
      </p:sp>
      <p:sp>
        <p:nvSpPr>
          <p:cNvPr id="14" name="Text 12"/>
          <p:cNvSpPr txBox="1"/>
          <p:nvPr/>
        </p:nvSpPr>
        <p:spPr>
          <a:xfrm>
            <a:off x="1078992" y="4361688"/>
            <a:ext cx="4489704" cy="502920"/>
          </a:xfrm>
          <a:prstGeom prst="rect">
            <a:avLst/>
          </a:prstGeom>
          <a:noFill/>
          <a:ln/>
        </p:spPr>
        <p:txBody>
          <a:bodyPr wrap="square" lIns="0" tIns="0" rIns="0" bIns="0" rtlCol="0" anchor="ctr"/>
          <a:lstStyle/>
          <a:p>
            <a:pPr indent="0" marL="0">
              <a:buNone/>
            </a:pPr>
            <a:r>
              <a:rPr lang="en-US" sz="1800" b="1" dirty="0">
                <a:solidFill>
                  <a:srgbClr val="1C2028"/>
                </a:solidFill>
              </a:rPr>
              <a:t>KM1: standby and targeted maintenance</a:t>
            </a:r>
            <a:endParaRPr lang="en-US" sz="1800" dirty="0"/>
          </a:p>
        </p:txBody>
      </p:sp>
      <p:sp>
        <p:nvSpPr>
          <p:cNvPr id="15" name="Text 13"/>
          <p:cNvSpPr txBox="1"/>
          <p:nvPr/>
        </p:nvSpPr>
        <p:spPr>
          <a:xfrm>
            <a:off x="786384" y="4983480"/>
            <a:ext cx="4782312" cy="914400"/>
          </a:xfrm>
          <a:prstGeom prst="rect">
            <a:avLst/>
          </a:prstGeom>
          <a:noFill/>
          <a:ln/>
        </p:spPr>
        <p:txBody>
          <a:bodyPr wrap="square" lIns="0" tIns="0" rIns="0" bIns="0" rtlCol="0" anchor="ctr"/>
          <a:lstStyle/>
          <a:p>
            <a:pPr indent="0" marL="0">
              <a:lnSpc>
                <a:spcPct val="130000"/>
              </a:lnSpc>
              <a:buNone/>
            </a:pPr>
            <a:r>
              <a:rPr lang="en-US" sz="1350" dirty="0">
                <a:solidFill>
                  <a:srgbClr val="5D6470"/>
                </a:solidFill>
              </a:rPr>
              <a:t>Idle standby for capper and folder; focus on labeller and folder faults.</a:t>
            </a:r>
            <a:endParaRPr lang="en-US" sz="1350" dirty="0"/>
          </a:p>
        </p:txBody>
      </p:sp>
      <p:sp>
        <p:nvSpPr>
          <p:cNvPr id="16" name="Shape 14"/>
          <p:cNvSpPr/>
          <p:nvPr/>
        </p:nvSpPr>
        <p:spPr>
          <a:xfrm>
            <a:off x="6080760" y="4114800"/>
            <a:ext cx="5257800" cy="1920240"/>
          </a:xfrm>
          <a:prstGeom prst="roundRect">
            <a:avLst>
              <a:gd name="adj" fmla="val 3333"/>
            </a:avLst>
          </a:prstGeom>
          <a:solidFill>
            <a:srgbClr val="FFFFFF"/>
          </a:solidFill>
          <a:ln w="12700">
            <a:solidFill>
              <a:srgbClr val="E2DED5"/>
            </a:solidFill>
            <a:prstDash val="solid"/>
          </a:ln>
        </p:spPr>
      </p:sp>
      <p:sp>
        <p:nvSpPr>
          <p:cNvPr id="17" name="Shape 15"/>
          <p:cNvSpPr/>
          <p:nvPr/>
        </p:nvSpPr>
        <p:spPr>
          <a:xfrm>
            <a:off x="6318504" y="4425696"/>
            <a:ext cx="164592" cy="164592"/>
          </a:xfrm>
          <a:prstGeom prst="ellipse">
            <a:avLst/>
          </a:prstGeom>
          <a:solidFill>
            <a:srgbClr val="3B7DD8"/>
          </a:solidFill>
          <a:ln/>
        </p:spPr>
      </p:sp>
      <p:sp>
        <p:nvSpPr>
          <p:cNvPr id="18" name="Text 16"/>
          <p:cNvSpPr txBox="1"/>
          <p:nvPr/>
        </p:nvSpPr>
        <p:spPr>
          <a:xfrm>
            <a:off x="6611112" y="4361688"/>
            <a:ext cx="4489704" cy="502920"/>
          </a:xfrm>
          <a:prstGeom prst="rect">
            <a:avLst/>
          </a:prstGeom>
          <a:noFill/>
          <a:ln/>
        </p:spPr>
        <p:txBody>
          <a:bodyPr wrap="square" lIns="0" tIns="0" rIns="0" bIns="0" rtlCol="0" anchor="ctr"/>
          <a:lstStyle/>
          <a:p>
            <a:pPr indent="0" marL="0">
              <a:buNone/>
            </a:pPr>
            <a:r>
              <a:rPr lang="en-US" sz="1800" b="1" dirty="0">
                <a:solidFill>
                  <a:srgbClr val="1C2028"/>
                </a:solidFill>
              </a:rPr>
              <a:t>Fix the data at the source</a:t>
            </a:r>
            <a:endParaRPr lang="en-US" sz="1800" dirty="0"/>
          </a:p>
        </p:txBody>
      </p:sp>
      <p:sp>
        <p:nvSpPr>
          <p:cNvPr id="19" name="Text 17"/>
          <p:cNvSpPr txBox="1"/>
          <p:nvPr/>
        </p:nvSpPr>
        <p:spPr>
          <a:xfrm>
            <a:off x="6318504" y="4983480"/>
            <a:ext cx="4782312" cy="914400"/>
          </a:xfrm>
          <a:prstGeom prst="rect">
            <a:avLst/>
          </a:prstGeom>
          <a:noFill/>
          <a:ln/>
        </p:spPr>
        <p:txBody>
          <a:bodyPr wrap="square" lIns="0" tIns="0" rIns="0" bIns="0" rtlCol="0" anchor="ctr"/>
          <a:lstStyle/>
          <a:p>
            <a:pPr indent="0" marL="0">
              <a:lnSpc>
                <a:spcPct val="130000"/>
              </a:lnSpc>
              <a:buNone/>
            </a:pPr>
            <a:r>
              <a:rPr lang="en-US" sz="1350" dirty="0">
                <a:solidFill>
                  <a:srgbClr val="5D6470"/>
                </a:solidFill>
              </a:rPr>
              <a:t>Order no. on every table, continuous energy logging, validation rules.</a:t>
            </a:r>
            <a:endParaRPr lang="en-US" sz="1350" dirty="0"/>
          </a:p>
        </p:txBody>
      </p:sp>
      <p:sp>
        <p:nvSpPr>
          <p:cNvPr id="20" name="Text 18"/>
          <p:cNvSpPr txBox="1"/>
          <p:nvPr/>
        </p:nvSpPr>
        <p:spPr>
          <a:xfrm>
            <a:off x="457200" y="6473952"/>
            <a:ext cx="8686800" cy="274320"/>
          </a:xfrm>
          <a:prstGeom prst="rect">
            <a:avLst/>
          </a:prstGeom>
          <a:noFill/>
          <a:ln/>
        </p:spPr>
        <p:txBody>
          <a:bodyPr wrap="square" lIns="0" tIns="0" rIns="0" bIns="0" rtlCol="0" anchor="ctr"/>
          <a:lstStyle/>
          <a:p>
            <a:pPr indent="0" marL="0">
              <a:buNone/>
            </a:pPr>
            <a:r>
              <a:rPr lang="en-US" sz="1000" dirty="0">
                <a:solidFill>
                  <a:srgbClr val="5D6470"/>
                </a:solidFill>
              </a:rPr>
              <a:t>HSRW Datathon 2026  |  BBMED Production Data Challenge  |  Pablo De Villota and Ahmed Azzeh</a:t>
            </a:r>
            <a:endParaRPr lang="en-US" sz="1000" dirty="0"/>
          </a:p>
        </p:txBody>
      </p:sp>
      <p:sp>
        <p:nvSpPr>
          <p:cNvPr id="21" name="Text 19"/>
          <p:cNvSpPr txBox="1"/>
          <p:nvPr/>
        </p:nvSpPr>
        <p:spPr>
          <a:xfrm>
            <a:off x="10607040" y="6473952"/>
            <a:ext cx="1097280" cy="274320"/>
          </a:xfrm>
          <a:prstGeom prst="rect">
            <a:avLst/>
          </a:prstGeom>
          <a:noFill/>
          <a:ln/>
        </p:spPr>
        <p:txBody>
          <a:bodyPr wrap="square" lIns="0" tIns="0" rIns="0" bIns="0" rtlCol="0" anchor="ctr"/>
          <a:lstStyle/>
          <a:p>
            <a:pPr algn="r" indent="0" marL="0">
              <a:buNone/>
            </a:pPr>
            <a:r>
              <a:rPr lang="en-US" sz="1000" dirty="0">
                <a:solidFill>
                  <a:srgbClr val="5D6470"/>
                </a:solidFill>
              </a:rPr>
              <a:t>12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71C"/>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365760"/>
          </a:xfrm>
          <a:prstGeom prst="rect">
            <a:avLst/>
          </a:prstGeom>
          <a:noFill/>
          <a:ln/>
        </p:spPr>
        <p:txBody>
          <a:bodyPr wrap="square" lIns="0" tIns="0" rIns="0" bIns="0" rtlCol="0" anchor="ctr"/>
          <a:lstStyle/>
          <a:p>
            <a:pPr indent="0" marL="0">
              <a:buNone/>
            </a:pPr>
            <a:r>
              <a:rPr lang="en-US" sz="1400" b="1" spc="200" kern="0" dirty="0">
                <a:solidFill>
                  <a:srgbClr val="E8672F"/>
                </a:solidFill>
              </a:rPr>
              <a:t>TAKEAWAYS</a:t>
            </a:r>
            <a:endParaRPr lang="en-US" sz="1400" dirty="0"/>
          </a:p>
        </p:txBody>
      </p:sp>
      <p:sp>
        <p:nvSpPr>
          <p:cNvPr id="3" name="Text 1"/>
          <p:cNvSpPr txBox="1"/>
          <p:nvPr/>
        </p:nvSpPr>
        <p:spPr>
          <a:xfrm>
            <a:off x="640080" y="1371600"/>
            <a:ext cx="822960" cy="822960"/>
          </a:xfrm>
          <a:prstGeom prst="rect">
            <a:avLst/>
          </a:prstGeom>
          <a:noFill/>
          <a:ln/>
        </p:spPr>
        <p:txBody>
          <a:bodyPr wrap="square" lIns="0" tIns="0" rIns="0" bIns="0" rtlCol="0" anchor="ctr"/>
          <a:lstStyle/>
          <a:p>
            <a:pPr indent="0" marL="0">
              <a:buNone/>
            </a:pPr>
            <a:r>
              <a:rPr lang="en-US" sz="3000" b="1" dirty="0">
                <a:solidFill>
                  <a:srgbClr val="E8672F"/>
                </a:solidFill>
              </a:rPr>
              <a:t>01</a:t>
            </a:r>
            <a:endParaRPr lang="en-US" sz="3000" dirty="0"/>
          </a:p>
        </p:txBody>
      </p:sp>
      <p:sp>
        <p:nvSpPr>
          <p:cNvPr id="4" name="Text 2"/>
          <p:cNvSpPr txBox="1"/>
          <p:nvPr/>
        </p:nvSpPr>
        <p:spPr>
          <a:xfrm>
            <a:off x="1554480" y="1371600"/>
            <a:ext cx="9601200" cy="822960"/>
          </a:xfrm>
          <a:prstGeom prst="rect">
            <a:avLst/>
          </a:prstGeom>
          <a:noFill/>
          <a:ln/>
        </p:spPr>
        <p:txBody>
          <a:bodyPr wrap="square" lIns="0" tIns="0" rIns="0" bIns="0" rtlCol="0" anchor="ctr"/>
          <a:lstStyle/>
          <a:p>
            <a:pPr indent="0" marL="0">
              <a:lnSpc>
                <a:spcPct val="110000"/>
              </a:lnSpc>
              <a:buNone/>
            </a:pPr>
            <a:r>
              <a:rPr lang="en-US" sz="2800" dirty="0">
                <a:solidFill>
                  <a:srgbClr val="EEF0F3"/>
                </a:solidFill>
              </a:rPr>
              <a:t>Map the data before you measure it.</a:t>
            </a:r>
            <a:endParaRPr lang="en-US" sz="2800" dirty="0"/>
          </a:p>
        </p:txBody>
      </p:sp>
      <p:sp>
        <p:nvSpPr>
          <p:cNvPr id="5" name="Text 3"/>
          <p:cNvSpPr txBox="1"/>
          <p:nvPr/>
        </p:nvSpPr>
        <p:spPr>
          <a:xfrm>
            <a:off x="640080" y="2331720"/>
            <a:ext cx="822960" cy="822960"/>
          </a:xfrm>
          <a:prstGeom prst="rect">
            <a:avLst/>
          </a:prstGeom>
          <a:noFill/>
          <a:ln/>
        </p:spPr>
        <p:txBody>
          <a:bodyPr wrap="square" lIns="0" tIns="0" rIns="0" bIns="0" rtlCol="0" anchor="ctr"/>
          <a:lstStyle/>
          <a:p>
            <a:pPr indent="0" marL="0">
              <a:buNone/>
            </a:pPr>
            <a:r>
              <a:rPr lang="en-US" sz="3000" b="1" dirty="0">
                <a:solidFill>
                  <a:srgbClr val="E8672F"/>
                </a:solidFill>
              </a:rPr>
              <a:t>02</a:t>
            </a:r>
            <a:endParaRPr lang="en-US" sz="3000" dirty="0"/>
          </a:p>
        </p:txBody>
      </p:sp>
      <p:sp>
        <p:nvSpPr>
          <p:cNvPr id="6" name="Text 4"/>
          <p:cNvSpPr txBox="1"/>
          <p:nvPr/>
        </p:nvSpPr>
        <p:spPr>
          <a:xfrm>
            <a:off x="1554480" y="2331720"/>
            <a:ext cx="9601200" cy="822960"/>
          </a:xfrm>
          <a:prstGeom prst="rect">
            <a:avLst/>
          </a:prstGeom>
          <a:noFill/>
          <a:ln/>
        </p:spPr>
        <p:txBody>
          <a:bodyPr wrap="square" lIns="0" tIns="0" rIns="0" bIns="0" rtlCol="0" anchor="ctr"/>
          <a:lstStyle/>
          <a:p>
            <a:pPr indent="0" marL="0">
              <a:lnSpc>
                <a:spcPct val="110000"/>
              </a:lnSpc>
              <a:buNone/>
            </a:pPr>
            <a:r>
              <a:rPr lang="en-US" sz="2800" dirty="0">
                <a:solidFill>
                  <a:srgbClr val="EEF0F3"/>
                </a:solidFill>
              </a:rPr>
              <a:t>Medians before means on operational data.</a:t>
            </a:r>
            <a:endParaRPr lang="en-US" sz="2800" dirty="0"/>
          </a:p>
        </p:txBody>
      </p:sp>
      <p:sp>
        <p:nvSpPr>
          <p:cNvPr id="7" name="Text 5"/>
          <p:cNvSpPr txBox="1"/>
          <p:nvPr/>
        </p:nvSpPr>
        <p:spPr>
          <a:xfrm>
            <a:off x="640080" y="3291840"/>
            <a:ext cx="822960" cy="822960"/>
          </a:xfrm>
          <a:prstGeom prst="rect">
            <a:avLst/>
          </a:prstGeom>
          <a:noFill/>
          <a:ln/>
        </p:spPr>
        <p:txBody>
          <a:bodyPr wrap="square" lIns="0" tIns="0" rIns="0" bIns="0" rtlCol="0" anchor="ctr"/>
          <a:lstStyle/>
          <a:p>
            <a:pPr indent="0" marL="0">
              <a:buNone/>
            </a:pPr>
            <a:r>
              <a:rPr lang="en-US" sz="3000" b="1" dirty="0">
                <a:solidFill>
                  <a:srgbClr val="E8672F"/>
                </a:solidFill>
              </a:rPr>
              <a:t>03</a:t>
            </a:r>
            <a:endParaRPr lang="en-US" sz="3000" dirty="0"/>
          </a:p>
        </p:txBody>
      </p:sp>
      <p:sp>
        <p:nvSpPr>
          <p:cNvPr id="8" name="Text 6"/>
          <p:cNvSpPr txBox="1"/>
          <p:nvPr/>
        </p:nvSpPr>
        <p:spPr>
          <a:xfrm>
            <a:off x="1554480" y="3291840"/>
            <a:ext cx="9601200" cy="822960"/>
          </a:xfrm>
          <a:prstGeom prst="rect">
            <a:avLst/>
          </a:prstGeom>
          <a:noFill/>
          <a:ln/>
        </p:spPr>
        <p:txBody>
          <a:bodyPr wrap="square" lIns="0" tIns="0" rIns="0" bIns="0" rtlCol="0" anchor="ctr"/>
          <a:lstStyle/>
          <a:p>
            <a:pPr indent="0" marL="0">
              <a:lnSpc>
                <a:spcPct val="110000"/>
              </a:lnSpc>
              <a:buNone/>
            </a:pPr>
            <a:r>
              <a:rPr lang="en-US" sz="2800" dirty="0">
                <a:solidFill>
                  <a:srgbClr val="EEF0F3"/>
                </a:solidFill>
              </a:rPr>
              <a:t>"The data is broken" is a hypothesis, not a conclusion.</a:t>
            </a:r>
            <a:endParaRPr lang="en-US" sz="2800" dirty="0"/>
          </a:p>
        </p:txBody>
      </p:sp>
      <p:sp>
        <p:nvSpPr>
          <p:cNvPr id="9" name="Text 7"/>
          <p:cNvSpPr txBox="1"/>
          <p:nvPr/>
        </p:nvSpPr>
        <p:spPr>
          <a:xfrm>
            <a:off x="640080" y="5806440"/>
            <a:ext cx="6400800" cy="365760"/>
          </a:xfrm>
          <a:prstGeom prst="rect">
            <a:avLst/>
          </a:prstGeom>
          <a:noFill/>
          <a:ln/>
        </p:spPr>
        <p:txBody>
          <a:bodyPr wrap="square" lIns="0" tIns="0" rIns="0" bIns="0" rtlCol="0" anchor="ctr"/>
          <a:lstStyle/>
          <a:p>
            <a:pPr indent="0" marL="0">
              <a:buNone/>
            </a:pPr>
            <a:r>
              <a:rPr lang="en-US" sz="1600" b="1" dirty="0">
                <a:solidFill>
                  <a:srgbClr val="EEF0F3"/>
                </a:solidFill>
              </a:rPr>
              <a:t>Pablo De Villota and Ahmed Azzeh</a:t>
            </a:r>
            <a:endParaRPr lang="en-US" sz="1600" dirty="0"/>
          </a:p>
        </p:txBody>
      </p:sp>
      <p:sp>
        <p:nvSpPr>
          <p:cNvPr id="10" name="Text 8"/>
          <p:cNvSpPr txBox="1"/>
          <p:nvPr/>
        </p:nvSpPr>
        <p:spPr>
          <a:xfrm>
            <a:off x="640080" y="6144768"/>
            <a:ext cx="6400800" cy="320040"/>
          </a:xfrm>
          <a:prstGeom prst="rect">
            <a:avLst/>
          </a:prstGeom>
          <a:noFill/>
          <a:ln/>
        </p:spPr>
        <p:txBody>
          <a:bodyPr wrap="square" lIns="0" tIns="0" rIns="0" bIns="0" rtlCol="0" anchor="ctr"/>
          <a:lstStyle/>
          <a:p>
            <a:pPr indent="0" marL="0">
              <a:buNone/>
            </a:pPr>
            <a:r>
              <a:rPr lang="en-US" sz="1300" dirty="0">
                <a:solidFill>
                  <a:srgbClr val="A9B0BB"/>
                </a:solidFill>
              </a:rPr>
              <a:t>HSRW Datathon 2026, Kleve. Data provided by BBMED</a:t>
            </a:r>
            <a:endParaRPr lang="en-US" sz="1300" dirty="0"/>
          </a:p>
        </p:txBody>
      </p:sp>
      <p:sp>
        <p:nvSpPr>
          <p:cNvPr id="11" name="Text 9"/>
          <p:cNvSpPr txBox="1"/>
          <p:nvPr/>
        </p:nvSpPr>
        <p:spPr>
          <a:xfrm>
            <a:off x="7772400" y="5989320"/>
            <a:ext cx="3840480" cy="365760"/>
          </a:xfrm>
          <a:prstGeom prst="rect">
            <a:avLst/>
          </a:prstGeom>
          <a:noFill/>
          <a:ln/>
        </p:spPr>
        <p:txBody>
          <a:bodyPr wrap="square" lIns="0" tIns="0" rIns="0" bIns="0" rtlCol="0" anchor="ctr"/>
          <a:lstStyle/>
          <a:p>
            <a:pPr algn="r" indent="0" marL="0">
              <a:buNone/>
            </a:pPr>
            <a:r>
              <a:rPr lang="en-US" sz="1300" dirty="0">
                <a:solidFill>
                  <a:srgbClr val="A9B0BB"/>
                </a:solidFill>
              </a:rPr>
              <a:t>Full case study and repo linked on LinkedIn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2026-10-01T07:39:46Z</dcterms:created>
  <dcterms:modified xsi:type="dcterms:W3CDTF">2026-10-01T07:39:46Z</dcterms:modified>
</cp:coreProperties>
</file>